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Jev (TypeSafe AI, early access since Sept 2026) is the first "System One" model. You send a state and typed questions (choice / score / noul) to POST /v1/systemone and get typed answers with probabilities back. No text generation.</a:t>
            </a:r>
          </a:p>
          <a:p/>
          <a:p>
            <a:r>
              <a:t>WHY (Caleb Writes Code, "Jev explained in 7min"): the AI stack's application layer pushed models toward chat (RLHF) and coding agents (RLVR). Workflow automation never crossed the cost/speed threshold, even with very capable models. TypeSafe argues that forcing chat/agent-optimised models into automation is the wrong approach and trains for calibrated decisions instead (RLCD). Most community demos show off speed (sorting email, RAG, games, model routing) rather than depth - LLMs can do these functionally, but not at 70-500 ms, because they generate tokens one after another.</a:t>
            </a:r>
          </a:p>
          <a:p/>
          <a:p>
            <a:r>
              <a:t>HOW FAST/CHEAP: vendor-reported 40-200x faster; LangChain quotes 20-200x faster and 40-400x cheaper on classification-style tasks. Price $0.042 per 1M input tokens, output free (~$0.0004 per decision).</a:t>
            </a:r>
          </a:p>
          <a:p/>
          <a:p>
            <a:r>
              <a:t>NAME: System 1 / System 2 from Kahneman, "Thinking, Fast and Slow".</a:t>
            </a:r>
          </a:p>
          <a:p/>
          <a:p>
            <a:r>
              <a:t>LANGCHAIN DEMO: "Is there PII in this text?" - LLM writes an answer + structured output in ~5 s; Jev returns 0.98 almost instantly.</a:t>
            </a:r>
          </a:p>
          <a:p/>
          <a:p>
            <a:r>
              <a:t>Takeaway from video 1: this is less about Jev's novelty and more about the use-case space growing horizontally - narrow, specialised models next to general LLMs.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PRIMITIVES (all three videos + docs.typesafe.ai/api):</a:t>
            </a:r>
          </a:p>
          <a:p>
            <a:r>
              <a:t>- Choice: map of option -&gt; rubric (or null). Returns choice, probabilities per option, confidence. Max 255 options.</a:t>
            </a:r>
          </a:p>
          <a:p>
            <a:r>
              <a:t>- Score: ordered array of level descriptions (2-10). Returns a probability-weighted score that can land between levels (1.04 = frustrated, not very angry), plus legend/probabilities/confidence.</a:t>
            </a:r>
          </a:p>
          <a:p>
            <a:r>
              <a:t>- Noul: yes/no; returns P(yes). Optional criteria for what true/false mean.</a:t>
            </a:r>
          </a:p>
          <a:p>
            <a:r>
              <a:t>- Many questions about one state are answered in ONE parallel pass - adding questions barely changes latency (unlike LLMs, which reason sequentially).</a:t>
            </a:r>
          </a:p>
          <a:p>
            <a:r>
              <a:t>- Instructions and criteria can be structured JSON; refer to state fields in backticks.</a:t>
            </a:r>
          </a:p>
          <a:p/>
          <a:p>
            <a:r>
              <a:t>Caleb's framing: "It almost feels like we're back to logic gates and registers" - you build abstractions on top. On the Pareto frontier Jev competes with Flash/Nano-class models, but only on workflow-specific tasks.</a:t>
            </a:r>
          </a:p>
          <a:p/>
          <a:p>
            <a:r>
              <a:t>DOCS PATTERNS: confidence-gated routing (the answer tells you WHAT, confidence tells you WHETHER to act), composite scoring (atomic scores, weights in code), speculative fan-out (ask everything in one call, code decides what is relevant), intent routing.</a:t>
            </a:r>
          </a:p>
          <a:p/>
          <a:p>
            <a:r>
              <a:t>LANGCHAIN ("Building a Harness with Jev"): langchain-typesafe exposes TypeSafeClassifier plus experimental middleware: ModelRouterMiddleware (fast vs powerful model per request) and AutoModeMiddleware (tool-risk gating). Jev-as-a-judge for LangSmith online evals: rubric criteria scored by Jev - reported as cheaper, faster and more consistent than LLM judges. Sample 06 in our repo implements all three ideas.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USE CASES (TypeSafe use-case map: lead generation, advertising, customer support, moderation; Ryze AI "Jev for Marketing: 8 use cases and the limits"):</a:t>
            </a:r>
          </a:p>
          <a:p>
            <a:r>
              <a:t>- Lead scoring and routing: score each lead against the ICP and pick the owner - two questions, one call. Sales gets the top band, the rest goes to nurture. (A 700-lead demo on X did exactly this.)</a:t>
            </a:r>
          </a:p>
          <a:p>
            <a:r>
              <a:t>- Search terms &amp; negatives (paid search): buyer / researcher / job seeker / competitor / junk -&gt; auto-negative, queue or drop by confidence.</a:t>
            </a:r>
          </a:p>
          <a:p>
            <a:r>
              <a:t>- Ad creative tagging: Matthew Berman ran Jev on 724 live ads from 37 brands in 40 s (~9 cents) - hook, format, offer, CTA, awareness stage, landing-page mismatch.</a:t>
            </a:r>
          </a:p>
          <a:p>
            <a:r>
              <a:t>- SEO internal links: the 586-page Distribb demo from video 2.</a:t>
            </a:r>
          </a:p>
          <a:p>
            <a:r>
              <a:t>- AI citation / GEO checks: "Is our brand recommended in this AI answer?" (Noul).</a:t>
            </a:r>
          </a:p>
          <a:p>
            <a:r>
              <a:t>- Review &amp; survey themes: classify every response instead of sampling 200.</a:t>
            </a:r>
          </a:p>
          <a:p>
            <a:r>
              <a:t>- Content QA gate: 20 Nouls per draft; only passing drafts reach an editor.</a:t>
            </a:r>
          </a:p>
          <a:p>
            <a:r>
              <a:t>- Model routing: frontier vs small vs no model.</a:t>
            </a:r>
          </a:p>
          <a:p>
            <a:r>
              <a:t>Cost at list price is cents per job -&gt; jobs that ran monthly on a frontier LLM can run nightly.</a:t>
            </a:r>
          </a:p>
          <a:p/>
          <a:p>
            <a:r>
              <a:t>DECIDE-THEN-ACT LOOP (Ryze): collect with code -&gt; shortlist to 10-15 candidates -&gt; one bounded question per row -&gt; threshold (high confidence auto, middle band to approval queue, low dropped) -&gt; LLM writes only where text is needed -&gt; verify the LLM output with Jev before it ships.</a:t>
            </a:r>
          </a:p>
          <a:p/>
          <a:p>
            <a:r>
              <a:t>VIDEO 2 (Pursuing AI): AI that watches, decides and acts. Driving simulator (real-time control), trolley problem 100 trials (99% pull, consistent), designer visual exploration (hundreds of tiny decisions what to show), voice + gesture control of a drawing app, live slop detector on X, SEO 586 pages, Laya (local, M3 Max) playing Snake at ~60 decisions/s with 10-18 ms latency and ~1 GB memory.</a:t>
            </a:r>
          </a:p>
          <a:p/>
          <a:p>
            <a:r>
              <a:t>LIMITS: no explanation; bounded answers only; vendor-reported benchmarks measure agreement with frontier models (Jev 67.8% vs Claude Opus 5 73.1%, GPT-5.6 Sol 74.1% on TypeSafe's 4-workflow benchmark); "cannot hallucinate" means it cannot break the schema - it can still pick the wrong option. Label 500 rows of your own data before trusting a threshold. Waitlist access, price may move.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Jev (TypeSafe AI) has been in early access since 15 Sep 2026. You apply for the preview, then create an API key under "API keys" (free starter credit is typical). It is NOT in the Microsoft Foundry model catalog - there is no one-click deployment.</a:t>
            </a:r>
          </a:p>
          <a:p/>
          <a:p>
            <a:r>
              <a:t>MICROSOFT FOUNDRY (Microsoft Tech Community, "Using Jev with Agents in Microsoft Foundry for Model Evaluation", 30 Sep 2026):</a:t>
            </a:r>
          </a:p>
          <a:p>
            <a:r>
              <a:t>- Create a Foundry agent, add an OpenAPI tool with an OpenAPI 3.0 schema for POST https://api.typesafe.ai/v1/systemone (operationId evaluate_with_jev; Noul / Choice / Score question schemas) and a new connection holding the key as "Bearer &lt;key&gt;".</a:t>
            </a:r>
          </a:p>
          <a:p>
            <a:r>
              <a:t>- Agent instructions: for every support message MUST call evaluate_with_jev, use exactly 'instructions' and 'criteria' properties, model "jev-latest", pass the original message as state, do not classify yourself, show the Jev output.</a:t>
            </a:r>
          </a:p>
          <a:p>
            <a:r>
              <a:t>- Example from the article: "The room had no water in and one of the towels was dirty" -&gt; billing noul 0.02, tone choice frustrated (0.74, confidence 0.6), urgency score 1.81 (handle today 0.85). The application then routes / escalates / requires human review deterministically.</a:t>
            </a:r>
          </a:p>
          <a:p>
            <a:r>
              <a:t>- Pattern: User/Application -&gt; Foundry model or agent -&gt; Jev judgement -&gt; deterministic logic -&gt; action/response.</a:t>
            </a:r>
          </a:p>
          <a:p>
            <a:r>
              <a:t>- Why Jev: consistent evaluation against explicit criteria, structured outputs, classification/routing, guardrails before tool calls, model routing; every decision has a probability for thresholds.</a:t>
            </a:r>
          </a:p>
          <a:p>
            <a:r>
              <a:t>- Explainability: SHAP-style attribution is hard when the model is only reachable through a hosted API. Jev does not replace SHAP but adds a separate, measurable judgement layer around opaque MaaS models.</a:t>
            </a:r>
          </a:p>
          <a:p>
            <a:r>
              <a:t>- Pricing (Sept 2026): jev-1.13.0 $0.042 per 1M input tokens, output free; limits 250,000 tokens/s and 1,200 requests/min (subject to change). Typical latency ~70-500 ms.</a:t>
            </a:r>
          </a:p>
          <a:p/>
          <a:p>
            <a:r>
              <a:t>OPEN SOURCE: Laya (huggingface.co/convaiinnovations/laya) - Apache-2.0, Jev-compatible request/response shape, runs locally; laya-serve exposes POST /v1/systemone so Jev clients only change the base URL. All our samples run on it.</a:t>
            </a:r>
          </a:p>
          <a:p/>
          <a:p>
            <a:r>
              <a:t>RUN THE SAMPLES: git clone https://github.com/stvonolf/jev-samples; python -m venv .venv; .venv\Scripts\python -m pip install -r samples\requirements.txt; cd samples; ..\.venv\Scripts\python 01_lead_scoring.py (01-06), ..\.venv\Scripts\python 07_ui_demos.py for the browser demos (http://localhost:8765). First run downloads ~0.8 GB of model weights.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 https://github.com/stvonolf/jev-samples - samples/ has seven runnable Python samples + jev_client.py (local Laya backend or any Jev-compatible HTTP endpoint via JEV_BASE_URL / JEV_API_KEY). Run: git clone https://github.com/stvonolf/jev-samples; cd jev-samples; python -m venv .venv; .venv\Scripts\python -m pip install -r samples\requirements.txt; cd samples; ..\.venv\Scripts\python 01_lead_scoring.py (01-06 are console samples); ..\.venv\Scripts\python 07_ui_demos.py starts the browser demos on http://localhost:8765.</a:t>
            </a:r>
          </a:p>
          <a:p/>
          <a:p>
            <a:r>
              <a:t>LAYA (huggingface.co/convaiinnovations/laya): ModernBERT-large backbone (395M) + a decision head trained from scratch, 421M total; multilingual checkpoint on mmBERT-base for 100+ languages; trained with RLCD-style proper scoring rules. laya-serve exposes the same POST /v1/systemone request/response shape as TypeSafe Jev. Author-reported vs Jev (third-party numbers, different setups): 7.8x faster on a T4 GPU (32.8 ms vs 236-276 ms p50), better calibration after temperature fitting, but Jev is better with &gt;20 options (Banking77: 0.87 vs 0.43). The base checkpoint scores 0.36 on the typed-decisions benchmark; the fine-tuned typed-decisions checkpoint 0.77 - fine-tuning matters.</a:t>
            </a:r>
          </a:p>
          <a:p/>
          <a:p>
            <a:r>
              <a:t>OUR MEASUREMENTS (Intel Core Ultra 7 268V, CPU only): ~250-350 ms for one short question, ~1-2 s for 4-5 questions about one item, model load ~10 s from cache. Fine for batch/demo; use a GPU or the Jev API for real-time.</a:t>
            </a:r>
          </a:p>
          <a:p/>
          <a:p>
            <a:r>
              <a:t>LESSONS: we tested 3-5 phrasings per question on small labelled sets. Examples: "Do both pages cover the same marketing topic?" (AUC 1.0) beat "Are the pages closely related?"; short option labels beat long descriptions for the command bar; plain-text tool-call descriptions + a "kind of action" Choice beat risk Nouls on JSON. Giving the model fewer CRM fields improved persona detection.</a:t>
            </a:r>
          </a:p>
          <a:p/>
          <a:p>
            <a:r>
              <a:t>NEXT STEPS: one pilot use case, label data, measure Laya vs Jev, ship behind confidence gating with human review for the middle band.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 07 (samples/07_ui_demos.py): a stdlib-only web server on top of jev_client.DecisionClient - so it runs on local Laya by default and on TypeSafe Jev when JEV_BASE_URL / JEV_API_KEY are set. Open http://localhost:8765. One demo per primitive.</a:t>
            </a:r>
          </a:p>
          <a:p/>
          <a:p>
            <a:r>
              <a:t>TROLLEY (/trolley, Choice), modelled on the "The trolley problem, 100 times" demo from video 2 (X post by @FinanceYF5): one Choice per trial ("pull_the_lever" vs "leave_it_alone", criteria spell out who dies). Each trial uses freshly randomised wording (vehicle, people, sentence template), so the 100 decisions are not identical calls. First 5 trials at 1x, then 10x, like the original. Classic mode reproduces the video (100/100 pull). Sanity-check mode swaps the counts (1 on main, 5 on side) - Laya still pulls the lever (0 of 13 trials chose fewer deaths in our run), and a random-counts mode shows the same. Lesson: fast decision models pattern-match; put arithmetic and hard rules in code.</a:t>
            </a:r>
          </a:p>
          <a:p/>
          <a:p>
            <a:r>
              <a:t>CREATIVE (/creative, Noul), modelled on the designer demo (@heystefan_): type a request, every emoji in a pile of ~235 gets a Noul. Emoji that stand out for the request animate up under the prompt as decisions stream in, 8 per request. Because P(related) levels vary by prompt (wear ~0.9 max, lose weight ~0.3 max), the UI selects relative outliers (mean + 2.5 sd, at most 12). Speed on our laptop CPU: ~0.15-0.3 s per emoji decision, so a brand-new prompt takes ~40-75 s; the suggested prompts are pre-computed and cached at server start so they replay instantly. On a GPU or the Jev API this is real time.</a:t>
            </a:r>
          </a:p>
          <a:p/>
          <a:p>
            <a:r>
              <a:t>SCORE (/score): "How hot is this message?" - four Score questions about one customer message (frustration: calm/slightly annoyed/frustrated/furious; urgency: no time pressure ... emergency; churn risk: very unlikely ... about to cancel; sentiment: negative/neutral/positive), re-evaluated 0.7 s after you stop typing (~1.3-1.5 s per evaluation on the laptop CPU). Each gauge shades the levels by probability and puts a needle at the probability-weighted score, so you can see it land between levels. "Play escalation" types an invoice complaint sentence by sentence: frustration 0.96 -&gt; 1.42 -&gt; 1.84 -&gt; 2.11 -&gt; 2.44, churn jumps to 2.84 at "we will cancel". Priority = 0.40 frustration + 0.35 urgency + 0.25 churn (normalised) is computed in code and mapped to a route (normal queue / reply today / priority / escalate to retention; happy customers -&gt; testimonial for marketing). We first tried scoring short email subject lines - only urgency separated well, so Score works best on richer text.</a:t>
            </a:r>
          </a:p>
          <a:p/>
          <a:p>
            <a:r>
              <a:t>WHAT WE TRIED (creative): grouped Choice (10 emoji + "none" per question) was faster but less precise; mean-pooled encoder embeddings as a shortlist were no better than random; the emoji + name state with "Is this related to: X?" had the best ranking (AUC ~0.9 on labelled sets, except physics questions like magnets).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www.youtube.com/watch?v=vj7hysh0mOI" TargetMode="External"/><Relationship Id="rId4" Type="http://schemas.openxmlformats.org/officeDocument/2006/relationships/hyperlink" Target="https://www.youtube.com/watch?v=VE5dsWll06M"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VE5dsWll06M"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youtube.com/watch?v=I34qxJjyms0"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 TargetMode="External"/><Relationship Id="rId3" Type="http://schemas.openxmlformats.org/officeDocument/2006/relationships/hyperlink" Target="https://techcommunity.microsoft.com/blog/azuredevcommunityblog/using-jev-with-agents-in-microsoft-foundry-for-model-evaluation/4559851" TargetMode="External"/><Relationship Id="rId4" Type="http://schemas.openxmlformats.org/officeDocument/2006/relationships/hyperlink" Target="https://huggingface.co/convaiinnovations/laya"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64008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JEV · TEAM BRIEFING  ·  1 / 6</a:t>
            </a:r>
          </a:p>
        </p:txBody>
      </p:sp>
      <p:sp>
        <p:nvSpPr>
          <p:cNvPr id="3" name="TextBox 2"/>
          <p:cNvSpPr txBox="1"/>
          <p:nvPr/>
        </p:nvSpPr>
        <p:spPr>
          <a:xfrm>
            <a:off x="457200" y="566928"/>
            <a:ext cx="6949440" cy="1188720"/>
          </a:xfrm>
          <a:prstGeom prst="rect">
            <a:avLst/>
          </a:prstGeom>
          <a:noFill/>
        </p:spPr>
        <p:txBody>
          <a:bodyPr wrap="square" anchor="t" lIns="36576" rIns="36576" tIns="36576" bIns="36576">
            <a:spAutoFit/>
          </a:bodyPr>
          <a:lstStyle/>
          <a:p>
            <a:pPr algn="l">
              <a:lnSpc>
                <a:spcPct val="95000"/>
              </a:lnSpc>
              <a:spcAft>
                <a:spcPts val="0"/>
              </a:spcAft>
            </a:pPr>
            <a:r>
              <a:rPr sz="3600" b="0" i="0">
                <a:solidFill>
                  <a:srgbClr val="F5F6FA"/>
                </a:solidFill>
                <a:latin typeface="Segoe UI Semibold"/>
              </a:rPr>
              <a:t>Jev: AI that </a:t>
            </a:r>
            <a:r>
              <a:rPr sz="3600" b="0" i="0">
                <a:solidFill>
                  <a:srgbClr val="E040FB"/>
                </a:solidFill>
                <a:latin typeface="Segoe UI Semibold"/>
              </a:rPr>
              <a:t>decides</a:t>
            </a:r>
            <a:r>
              <a:rPr sz="3600" b="0" i="0">
                <a:solidFill>
                  <a:srgbClr val="F5F6FA"/>
                </a:solidFill>
                <a:latin typeface="Segoe UI Semibold"/>
              </a:rPr>
              <a:t>,
not chats</a:t>
            </a:r>
          </a:p>
        </p:txBody>
      </p:sp>
      <p:sp>
        <p:nvSpPr>
          <p:cNvPr id="4" name="TextBox 3"/>
          <p:cNvSpPr txBox="1"/>
          <p:nvPr/>
        </p:nvSpPr>
        <p:spPr>
          <a:xfrm>
            <a:off x="457200" y="1828800"/>
            <a:ext cx="6766560" cy="54864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TypeSafe AI's first “System One” model: fast, typed, calibrated decisions that software can use directly.</a:t>
            </a:r>
          </a:p>
        </p:txBody>
      </p:sp>
      <p:sp>
        <p:nvSpPr>
          <p:cNvPr id="5" name="TextBox 4"/>
          <p:cNvSpPr txBox="1"/>
          <p:nvPr/>
        </p:nvSpPr>
        <p:spPr>
          <a:xfrm>
            <a:off x="457200" y="2514600"/>
            <a:ext cx="6720840" cy="4023360"/>
          </a:xfrm>
          <a:prstGeom prst="rect">
            <a:avLst/>
          </a:prstGeom>
          <a:noFill/>
        </p:spPr>
        <p:txBody>
          <a:bodyPr wrap="square" anchor="t" lIns="36576" rIns="36576" tIns="36576" bIns="36576">
            <a:spAutoFit/>
          </a:bodyPr>
          <a:lstStyle/>
          <a:p>
            <a:pPr algn="l">
              <a:lnSpc>
                <a:spcPct val="105000"/>
              </a:lnSpc>
              <a:spcAft>
                <a:spcPts val="1100"/>
              </a:spcAft>
            </a:pPr>
            <a:r>
              <a:rPr sz="1400" b="0" i="0">
                <a:solidFill>
                  <a:srgbClr val="22D3EE"/>
                </a:solidFill>
                <a:latin typeface="Segoe UI Semibold"/>
              </a:rPr>
              <a:t>▸  </a:t>
            </a:r>
            <a:r>
              <a:rPr sz="1400" b="0" i="0">
                <a:solidFill>
                  <a:srgbClr val="F5F6FA"/>
                </a:solidFill>
                <a:latin typeface="Segoe UI Semibold"/>
              </a:rPr>
              <a:t>What it is.  </a:t>
            </a:r>
            <a:r>
              <a:rPr sz="1400" b="0" i="0">
                <a:solidFill>
                  <a:srgbClr val="A3A9BC"/>
                </a:solidFill>
                <a:latin typeface="Segoe UI"/>
              </a:rPr>
              <a:t>Input = a state (text or JSON) + typed questions. Output = typed answers with calibrated probabilities. It never generates text, so there is nothing to parse and no broken schema.</a:t>
            </a:r>
          </a:p>
          <a:p>
            <a:pPr algn="l">
              <a:lnSpc>
                <a:spcPct val="105000"/>
              </a:lnSpc>
              <a:spcAft>
                <a:spcPts val="1100"/>
              </a:spcAft>
            </a:pPr>
            <a:r>
              <a:rPr sz="1400" b="0" i="0">
                <a:solidFill>
                  <a:srgbClr val="22D3EE"/>
                </a:solidFill>
                <a:latin typeface="Segoe UI Semibold"/>
              </a:rPr>
              <a:t>▸  </a:t>
            </a:r>
            <a:r>
              <a:rPr sz="1400" b="0" i="0">
                <a:solidFill>
                  <a:srgbClr val="F5F6FA"/>
                </a:solidFill>
                <a:latin typeface="Segoe UI Semibold"/>
              </a:rPr>
              <a:t>Why it exists.  </a:t>
            </a:r>
            <a:r>
              <a:rPr sz="1400" b="0" i="0">
                <a:solidFill>
                  <a:srgbClr val="A3A9BC"/>
                </a:solidFill>
                <a:latin typeface="Segoe UI"/>
              </a:rPr>
              <a:t>LLMs were optimised for chat (RLHF) and coding agents (RLVR). Workflow automation needs thousands of quick decisions under uncertainty: the neglected use case.</a:t>
            </a:r>
          </a:p>
          <a:p>
            <a:pPr algn="l">
              <a:lnSpc>
                <a:spcPct val="105000"/>
              </a:lnSpc>
              <a:spcAft>
                <a:spcPts val="1100"/>
              </a:spcAft>
            </a:pPr>
            <a:r>
              <a:rPr sz="1400" b="0" i="0">
                <a:solidFill>
                  <a:srgbClr val="22D3EE"/>
                </a:solidFill>
                <a:latin typeface="Segoe UI Semibold"/>
              </a:rPr>
              <a:t>▸  </a:t>
            </a:r>
            <a:r>
              <a:rPr sz="1400" b="0" i="0">
                <a:solidFill>
                  <a:srgbClr val="F5F6FA"/>
                </a:solidFill>
                <a:latin typeface="Segoe UI Semibold"/>
              </a:rPr>
              <a:t>How it is trained.  </a:t>
            </a:r>
            <a:r>
              <a:rPr sz="1400" b="0" i="0">
                <a:solidFill>
                  <a:srgbClr val="A3A9BC"/>
                </a:solidFill>
                <a:latin typeface="Segoe UI"/>
              </a:rPr>
              <a:t>RLCD = reinforcement learning for calibrated decisions. Rewards come from proper scoring rules, so honest probabilities score best.</a:t>
            </a:r>
          </a:p>
          <a:p>
            <a:pPr algn="l">
              <a:lnSpc>
                <a:spcPct val="105000"/>
              </a:lnSpc>
              <a:spcAft>
                <a:spcPts val="1100"/>
              </a:spcAft>
            </a:pPr>
            <a:r>
              <a:rPr sz="1400" b="0" i="0">
                <a:solidFill>
                  <a:srgbClr val="22D3EE"/>
                </a:solidFill>
                <a:latin typeface="Segoe UI Semibold"/>
              </a:rPr>
              <a:t>▸  </a:t>
            </a:r>
            <a:r>
              <a:rPr sz="1400" b="0" i="0">
                <a:solidFill>
                  <a:srgbClr val="F5F6FA"/>
                </a:solidFill>
                <a:latin typeface="Segoe UI Semibold"/>
              </a:rPr>
              <a:t>Speed and cost.  </a:t>
            </a:r>
            <a:r>
              <a:rPr sz="1400" b="0" i="0">
                <a:solidFill>
                  <a:srgbClr val="A3A9BC"/>
                </a:solidFill>
                <a:latin typeface="Segoe UI"/>
              </a:rPr>
              <a:t>All questions in one parallel pass: 70–500 ms, 20–200× faster and 40–400× cheaper than LLMs on classification-style tasks. $0.042 per 1M input tokens, output is free.</a:t>
            </a:r>
          </a:p>
          <a:p>
            <a:pPr algn="l">
              <a:lnSpc>
                <a:spcPct val="105000"/>
              </a:lnSpc>
              <a:spcAft>
                <a:spcPts val="1100"/>
              </a:spcAft>
            </a:pPr>
            <a:r>
              <a:rPr sz="1400" b="0" i="0">
                <a:solidFill>
                  <a:srgbClr val="22D3EE"/>
                </a:solidFill>
                <a:latin typeface="Segoe UI Semibold"/>
              </a:rPr>
              <a:t>▸  </a:t>
            </a:r>
            <a:r>
              <a:rPr sz="1400" b="0" i="0">
                <a:solidFill>
                  <a:srgbClr val="F5F6FA"/>
                </a:solidFill>
                <a:latin typeface="Segoe UI Semibold"/>
              </a:rPr>
              <a:t>Not an LLM replacement.  </a:t>
            </a:r>
            <a:r>
              <a:rPr sz="1400" b="0" i="0">
                <a:solidFill>
                  <a:srgbClr val="A3A9BC"/>
                </a:solidFill>
                <a:latin typeface="Segoe UI"/>
              </a:rPr>
              <a:t>It cannot write, explain or plan. Jev is System 1 (fast intuition); LLMs stay System 2 (slow reasoning). Use both.</a:t>
            </a:r>
          </a:p>
        </p:txBody>
      </p:sp>
      <p:pic>
        <p:nvPicPr>
          <p:cNvPr id="6" name="Picture 5" descr="yt_vj7hysh0mOI.jpg">
            <a:hlinkClick r:id="rId3"/>
          </p:cNvPr>
          <p:cNvPicPr>
            <a:picLocks noChangeAspect="1"/>
          </p:cNvPicPr>
          <p:nvPr/>
        </p:nvPicPr>
        <p:blipFill>
          <a:blip r:embed="rId2"/>
          <a:stretch>
            <a:fillRect/>
          </a:stretch>
        </p:blipFill>
        <p:spPr>
          <a:xfrm>
            <a:off x="7589520" y="411480"/>
            <a:ext cx="4160520" cy="2340292"/>
          </a:xfrm>
          <a:prstGeom prst="rect">
            <a:avLst/>
          </a:prstGeom>
          <a:ln w="12700">
            <a:solidFill>
              <a:srgbClr val="33384A"/>
            </a:solidFill>
          </a:ln>
        </p:spPr>
      </p:pic>
      <p:sp>
        <p:nvSpPr>
          <p:cNvPr id="7" name="TextBox 6">
            <a:hlinkClick r:id="rId3"/>
          </p:cNvPr>
          <p:cNvSpPr txBox="1"/>
          <p:nvPr/>
        </p:nvSpPr>
        <p:spPr>
          <a:xfrm>
            <a:off x="7589520" y="2779776"/>
            <a:ext cx="4206240"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Video: </a:t>
            </a:r>
            <a:r>
              <a:rPr sz="1000" b="0" i="0" u="sng">
                <a:solidFill>
                  <a:srgbClr val="A3A9BC"/>
                </a:solidFill>
                <a:latin typeface="Segoe UI"/>
              </a:rPr>
              <a:t>“Jev explained in 7min..” – Caleb Writes Code</a:t>
            </a:r>
          </a:p>
        </p:txBody>
      </p:sp>
      <p:sp>
        <p:nvSpPr>
          <p:cNvPr id="8" name="Rounded Rectangle 7"/>
          <p:cNvSpPr/>
          <p:nvPr/>
        </p:nvSpPr>
        <p:spPr>
          <a:xfrm>
            <a:off x="7589520" y="3200400"/>
            <a:ext cx="4160520" cy="324612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3291840"/>
            <a:ext cx="3931920" cy="320040"/>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F5F6FA"/>
                </a:solidFill>
                <a:latin typeface="Segoe UI Semibold"/>
              </a:rPr>
              <a:t>Same question, two models: </a:t>
            </a:r>
            <a:r>
              <a:rPr sz="1150" b="0" i="0">
                <a:solidFill>
                  <a:srgbClr val="A3A9BC"/>
                </a:solidFill>
                <a:latin typeface="Segoe UI"/>
              </a:rPr>
              <a:t>“Is there PII in this text?”</a:t>
            </a:r>
          </a:p>
        </p:txBody>
      </p:sp>
      <p:sp>
        <p:nvSpPr>
          <p:cNvPr id="10" name="TextBox 9"/>
          <p:cNvSpPr txBox="1"/>
          <p:nvPr/>
        </p:nvSpPr>
        <p:spPr>
          <a:xfrm>
            <a:off x="7726679" y="3749039"/>
            <a:ext cx="91440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87171"/>
                </a:solidFill>
                <a:latin typeface="Segoe UI Semibold"/>
              </a:rPr>
              <a:t>LLM</a:t>
            </a:r>
          </a:p>
        </p:txBody>
      </p:sp>
      <p:sp>
        <p:nvSpPr>
          <p:cNvPr id="11" name="TextBox 10"/>
          <p:cNvSpPr txBox="1"/>
          <p:nvPr/>
        </p:nvSpPr>
        <p:spPr>
          <a:xfrm>
            <a:off x="10835640" y="3749039"/>
            <a:ext cx="822960" cy="274320"/>
          </a:xfrm>
          <a:prstGeom prst="rect">
            <a:avLst/>
          </a:prstGeom>
          <a:noFill/>
        </p:spPr>
        <p:txBody>
          <a:bodyPr wrap="square" anchor="t" lIns="36576" rIns="36576" tIns="36576" bIns="36576">
            <a:spAutoFit/>
          </a:bodyPr>
          <a:lstStyle/>
          <a:p>
            <a:pPr algn="r">
              <a:lnSpc>
                <a:spcPct val="100000"/>
              </a:lnSpc>
              <a:spcAft>
                <a:spcPts val="0"/>
              </a:spcAft>
            </a:pPr>
            <a:r>
              <a:rPr sz="1300" b="0" i="0">
                <a:solidFill>
                  <a:srgbClr val="F87171"/>
                </a:solidFill>
                <a:latin typeface="Segoe UI Semibold"/>
              </a:rPr>
              <a:t>≈ 5 s</a:t>
            </a:r>
          </a:p>
        </p:txBody>
      </p:sp>
      <p:sp>
        <p:nvSpPr>
          <p:cNvPr id="12" name="Rounded Rectangle 11"/>
          <p:cNvSpPr/>
          <p:nvPr/>
        </p:nvSpPr>
        <p:spPr>
          <a:xfrm>
            <a:off x="7726679" y="4096511"/>
            <a:ext cx="1188720" cy="530352"/>
          </a:xfrm>
          <a:prstGeom prst="roundRect">
            <a:avLst>
              <a:gd name="adj" fmla="val 6000"/>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prompt</a:t>
            </a:r>
          </a:p>
        </p:txBody>
      </p:sp>
      <p:sp>
        <p:nvSpPr>
          <p:cNvPr id="13" name="TextBox 12"/>
          <p:cNvSpPr txBox="1"/>
          <p:nvPr/>
        </p:nvSpPr>
        <p:spPr>
          <a:xfrm>
            <a:off x="8887967" y="4178807"/>
            <a:ext cx="201168" cy="365760"/>
          </a:xfrm>
          <a:prstGeom prst="rect">
            <a:avLst/>
          </a:prstGeom>
          <a:noFill/>
        </p:spPr>
        <p:txBody>
          <a:bodyPr wrap="square" anchor="t" lIns="36576" rIns="36576" tIns="36576" bIns="36576">
            <a:spAutoFit/>
          </a:bodyPr>
          <a:lstStyle/>
          <a:p>
            <a:pPr algn="ctr">
              <a:lnSpc>
                <a:spcPct val="100000"/>
              </a:lnSpc>
              <a:spcAft>
                <a:spcPts val="0"/>
              </a:spcAft>
            </a:pPr>
            <a:r>
              <a:rPr sz="1600" b="0" i="0">
                <a:solidFill>
                  <a:srgbClr val="A3A9BC"/>
                </a:solidFill>
                <a:latin typeface="Segoe UI"/>
              </a:rPr>
              <a:t>›</a:t>
            </a:r>
          </a:p>
        </p:txBody>
      </p:sp>
      <p:sp>
        <p:nvSpPr>
          <p:cNvPr id="14" name="Rounded Rectangle 13"/>
          <p:cNvSpPr/>
          <p:nvPr/>
        </p:nvSpPr>
        <p:spPr>
          <a:xfrm>
            <a:off x="9052559" y="4096511"/>
            <a:ext cx="1188720" cy="530352"/>
          </a:xfrm>
          <a:prstGeom prst="roundRect">
            <a:avLst>
              <a:gd name="adj" fmla="val 6000"/>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token · token · token …</a:t>
            </a:r>
          </a:p>
        </p:txBody>
      </p:sp>
      <p:sp>
        <p:nvSpPr>
          <p:cNvPr id="15" name="TextBox 14"/>
          <p:cNvSpPr txBox="1"/>
          <p:nvPr/>
        </p:nvSpPr>
        <p:spPr>
          <a:xfrm>
            <a:off x="10213847" y="4178807"/>
            <a:ext cx="201168" cy="365760"/>
          </a:xfrm>
          <a:prstGeom prst="rect">
            <a:avLst/>
          </a:prstGeom>
          <a:noFill/>
        </p:spPr>
        <p:txBody>
          <a:bodyPr wrap="square" anchor="t" lIns="36576" rIns="36576" tIns="36576" bIns="36576">
            <a:spAutoFit/>
          </a:bodyPr>
          <a:lstStyle/>
          <a:p>
            <a:pPr algn="ctr">
              <a:lnSpc>
                <a:spcPct val="100000"/>
              </a:lnSpc>
              <a:spcAft>
                <a:spcPts val="0"/>
              </a:spcAft>
            </a:pPr>
            <a:r>
              <a:rPr sz="1600" b="0" i="0">
                <a:solidFill>
                  <a:srgbClr val="A3A9BC"/>
                </a:solidFill>
                <a:latin typeface="Segoe UI"/>
              </a:rPr>
              <a:t>›</a:t>
            </a:r>
          </a:p>
        </p:txBody>
      </p:sp>
      <p:sp>
        <p:nvSpPr>
          <p:cNvPr id="16" name="Rounded Rectangle 15"/>
          <p:cNvSpPr/>
          <p:nvPr/>
        </p:nvSpPr>
        <p:spPr>
          <a:xfrm>
            <a:off x="10378440" y="4096511"/>
            <a:ext cx="1188720" cy="530352"/>
          </a:xfrm>
          <a:prstGeom prst="roundRect">
            <a:avLst>
              <a:gd name="adj" fmla="val 6000"/>
            </a:avLst>
          </a:prstGeom>
          <a:solidFill>
            <a:srgbClr val="242836"/>
          </a:solid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text → parse</a:t>
            </a:r>
          </a:p>
        </p:txBody>
      </p:sp>
      <p:sp>
        <p:nvSpPr>
          <p:cNvPr id="17" name="TextBox 16"/>
          <p:cNvSpPr txBox="1"/>
          <p:nvPr/>
        </p:nvSpPr>
        <p:spPr>
          <a:xfrm>
            <a:off x="7726679" y="4937759"/>
            <a:ext cx="91440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34D399"/>
                </a:solidFill>
                <a:latin typeface="Segoe UI Semibold"/>
              </a:rPr>
              <a:t>Jev</a:t>
            </a:r>
          </a:p>
        </p:txBody>
      </p:sp>
      <p:sp>
        <p:nvSpPr>
          <p:cNvPr id="18" name="TextBox 17"/>
          <p:cNvSpPr txBox="1"/>
          <p:nvPr/>
        </p:nvSpPr>
        <p:spPr>
          <a:xfrm>
            <a:off x="10835640" y="4937759"/>
            <a:ext cx="822960" cy="274320"/>
          </a:xfrm>
          <a:prstGeom prst="rect">
            <a:avLst/>
          </a:prstGeom>
          <a:noFill/>
        </p:spPr>
        <p:txBody>
          <a:bodyPr wrap="square" anchor="t" lIns="36576" rIns="36576" tIns="36576" bIns="36576">
            <a:spAutoFit/>
          </a:bodyPr>
          <a:lstStyle/>
          <a:p>
            <a:pPr algn="r">
              <a:lnSpc>
                <a:spcPct val="100000"/>
              </a:lnSpc>
              <a:spcAft>
                <a:spcPts val="0"/>
              </a:spcAft>
            </a:pPr>
            <a:r>
              <a:rPr sz="1300" b="0" i="0">
                <a:solidFill>
                  <a:srgbClr val="34D399"/>
                </a:solidFill>
                <a:latin typeface="Segoe UI Semibold"/>
              </a:rPr>
              <a:t>≈ 0.1 s</a:t>
            </a:r>
          </a:p>
        </p:txBody>
      </p:sp>
      <p:sp>
        <p:nvSpPr>
          <p:cNvPr id="19" name="Rounded Rectangle 18"/>
          <p:cNvSpPr/>
          <p:nvPr/>
        </p:nvSpPr>
        <p:spPr>
          <a:xfrm>
            <a:off x="7726679" y="5285231"/>
            <a:ext cx="1188720" cy="530352"/>
          </a:xfrm>
          <a:prstGeom prst="roundRect">
            <a:avLst>
              <a:gd name="adj" fmla="val 6000"/>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state + question</a:t>
            </a:r>
          </a:p>
        </p:txBody>
      </p:sp>
      <p:sp>
        <p:nvSpPr>
          <p:cNvPr id="20" name="TextBox 19"/>
          <p:cNvSpPr txBox="1"/>
          <p:nvPr/>
        </p:nvSpPr>
        <p:spPr>
          <a:xfrm>
            <a:off x="8887967" y="5367527"/>
            <a:ext cx="201168" cy="365760"/>
          </a:xfrm>
          <a:prstGeom prst="rect">
            <a:avLst/>
          </a:prstGeom>
          <a:noFill/>
        </p:spPr>
        <p:txBody>
          <a:bodyPr wrap="square" anchor="t" lIns="36576" rIns="36576" tIns="36576" bIns="36576">
            <a:spAutoFit/>
          </a:bodyPr>
          <a:lstStyle/>
          <a:p>
            <a:pPr algn="ctr">
              <a:lnSpc>
                <a:spcPct val="100000"/>
              </a:lnSpc>
              <a:spcAft>
                <a:spcPts val="0"/>
              </a:spcAft>
            </a:pPr>
            <a:r>
              <a:rPr sz="1600" b="0" i="0">
                <a:solidFill>
                  <a:srgbClr val="A3A9BC"/>
                </a:solidFill>
                <a:latin typeface="Segoe UI"/>
              </a:rPr>
              <a:t>›</a:t>
            </a:r>
          </a:p>
        </p:txBody>
      </p:sp>
      <p:sp>
        <p:nvSpPr>
          <p:cNvPr id="21" name="Rounded Rectangle 20"/>
          <p:cNvSpPr/>
          <p:nvPr/>
        </p:nvSpPr>
        <p:spPr>
          <a:xfrm>
            <a:off x="9052559" y="5285231"/>
            <a:ext cx="1188720" cy="530352"/>
          </a:xfrm>
          <a:prstGeom prst="roundRect">
            <a:avLst>
              <a:gd name="adj" fmla="val 6000"/>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1 parallel pass</a:t>
            </a:r>
          </a:p>
        </p:txBody>
      </p:sp>
      <p:sp>
        <p:nvSpPr>
          <p:cNvPr id="22" name="TextBox 21"/>
          <p:cNvSpPr txBox="1"/>
          <p:nvPr/>
        </p:nvSpPr>
        <p:spPr>
          <a:xfrm>
            <a:off x="10213847" y="5367527"/>
            <a:ext cx="201168" cy="365760"/>
          </a:xfrm>
          <a:prstGeom prst="rect">
            <a:avLst/>
          </a:prstGeom>
          <a:noFill/>
        </p:spPr>
        <p:txBody>
          <a:bodyPr wrap="square" anchor="t" lIns="36576" rIns="36576" tIns="36576" bIns="36576">
            <a:spAutoFit/>
          </a:bodyPr>
          <a:lstStyle/>
          <a:p>
            <a:pPr algn="ctr">
              <a:lnSpc>
                <a:spcPct val="100000"/>
              </a:lnSpc>
              <a:spcAft>
                <a:spcPts val="0"/>
              </a:spcAft>
            </a:pPr>
            <a:r>
              <a:rPr sz="1600" b="0" i="0">
                <a:solidFill>
                  <a:srgbClr val="A3A9BC"/>
                </a:solidFill>
                <a:latin typeface="Segoe UI"/>
              </a:rPr>
              <a:t>›</a:t>
            </a:r>
          </a:p>
        </p:txBody>
      </p:sp>
      <p:sp>
        <p:nvSpPr>
          <p:cNvPr id="23" name="Rounded Rectangle 22"/>
          <p:cNvSpPr/>
          <p:nvPr/>
        </p:nvSpPr>
        <p:spPr>
          <a:xfrm>
            <a:off x="10378440" y="5285231"/>
            <a:ext cx="1188720" cy="530352"/>
          </a:xfrm>
          <a:prstGeom prst="roundRect">
            <a:avLst>
              <a:gd name="adj" fmla="val 6000"/>
            </a:avLst>
          </a:prstGeom>
          <a:solidFill>
            <a:srgbClr val="242836"/>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noul = 0.98</a:t>
            </a:r>
          </a:p>
        </p:txBody>
      </p:sp>
      <p:sp>
        <p:nvSpPr>
          <p:cNvPr id="24" name="TextBox 23">
            <a:hlinkClick r:id="rId4"/>
          </p:cNvPr>
          <p:cNvSpPr txBox="1"/>
          <p:nvPr/>
        </p:nvSpPr>
        <p:spPr>
          <a:xfrm>
            <a:off x="7726679" y="6108192"/>
            <a:ext cx="39319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Demo from “Building a Harness with Jev” – LangChain</a:t>
            </a:r>
          </a:p>
        </p:txBody>
      </p:sp>
      <p:sp>
        <p:nvSpPr>
          <p:cNvPr id="25" name="TextBox 24">
            <a:hlinkClick r:id="rId5"/>
          </p:cNvPr>
          <p:cNvSpPr txBox="1"/>
          <p:nvPr/>
        </p:nvSpPr>
        <p:spPr>
          <a:xfrm>
            <a:off x="457200" y="6309360"/>
            <a:ext cx="6675120" cy="292608"/>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A3A9BC"/>
                </a:solidFill>
                <a:latin typeface="Segoe UI"/>
              </a:rPr>
              <a:t>Slides, samples &amp; UI demos:  </a:t>
            </a:r>
            <a:r>
              <a:rPr sz="1200" b="0" i="0" u="sng">
                <a:solidFill>
                  <a:srgbClr val="22D3EE"/>
                </a:solidFill>
                <a:latin typeface="Segoe UI Semibold"/>
              </a:rPr>
              <a:t>github.com/stvonolf/jev-samples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HOW IT WORKS  ·  2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Three primitives, one parallel call</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Like logic gates and registers: your code owns the control flow, Jev answers narrow typed questions.</a:t>
            </a:r>
          </a:p>
        </p:txBody>
      </p:sp>
      <p:sp>
        <p:nvSpPr>
          <p:cNvPr id="5" name="Rounded Rectangle 4"/>
          <p:cNvSpPr/>
          <p:nvPr/>
        </p:nvSpPr>
        <p:spPr>
          <a:xfrm>
            <a:off x="457200" y="1645920"/>
            <a:ext cx="3657600" cy="210312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45920"/>
            <a:ext cx="3657600" cy="64008"/>
          </a:xfrm>
          <a:prstGeom prst="rect">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0080" y="1783080"/>
            <a:ext cx="3291840" cy="411480"/>
          </a:xfrm>
          <a:prstGeom prst="rect">
            <a:avLst/>
          </a:prstGeom>
          <a:noFill/>
        </p:spPr>
        <p:txBody>
          <a:bodyPr wrap="square" anchor="t" lIns="36576" rIns="36576" tIns="36576" bIns="36576">
            <a:spAutoFit/>
          </a:bodyPr>
          <a:lstStyle/>
          <a:p>
            <a:pPr algn="l">
              <a:lnSpc>
                <a:spcPct val="100000"/>
              </a:lnSpc>
              <a:spcAft>
                <a:spcPts val="0"/>
              </a:spcAft>
            </a:pPr>
            <a:r>
              <a:rPr sz="2200" b="0" i="0">
                <a:solidFill>
                  <a:srgbClr val="E040FB"/>
                </a:solidFill>
                <a:latin typeface="Segoe UI Semibold"/>
              </a:rPr>
              <a:t>Choice</a:t>
            </a:r>
          </a:p>
        </p:txBody>
      </p:sp>
      <p:sp>
        <p:nvSpPr>
          <p:cNvPr id="8" name="TextBox 7"/>
          <p:cNvSpPr txBox="1"/>
          <p:nvPr/>
        </p:nvSpPr>
        <p:spPr>
          <a:xfrm>
            <a:off x="640080" y="2240280"/>
            <a:ext cx="3291840" cy="365760"/>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A3A9BC"/>
                </a:solidFill>
                <a:latin typeface="Segoe UI"/>
              </a:rPr>
              <a:t>Pick one option from a set you define (up to 255).</a:t>
            </a:r>
          </a:p>
        </p:txBody>
      </p:sp>
      <p:sp>
        <p:nvSpPr>
          <p:cNvPr id="9" name="TextBox 8"/>
          <p:cNvSpPr txBox="1"/>
          <p:nvPr/>
        </p:nvSpPr>
        <p:spPr>
          <a:xfrm>
            <a:off x="640080" y="2606040"/>
            <a:ext cx="3291840" cy="548640"/>
          </a:xfrm>
          <a:prstGeom prst="rect">
            <a:avLst/>
          </a:prstGeom>
          <a:noFill/>
        </p:spPr>
        <p:txBody>
          <a:bodyPr wrap="square" anchor="t" lIns="36576" rIns="36576" tIns="36576" bIns="36576">
            <a:spAutoFit/>
          </a:bodyPr>
          <a:lstStyle/>
          <a:p>
            <a:pPr algn="l">
              <a:lnSpc>
                <a:spcPct val="100000"/>
              </a:lnSpc>
              <a:spcAft>
                <a:spcPts val="0"/>
              </a:spcAft>
            </a:pPr>
            <a:r>
              <a:rPr sz="1250" b="0" i="0">
                <a:solidFill>
                  <a:srgbClr val="F5F6FA"/>
                </a:solidFill>
                <a:latin typeface="Segoe UI"/>
              </a:rPr>
              <a:t>Which team should handle this ticket?</a:t>
            </a:r>
          </a:p>
        </p:txBody>
      </p:sp>
      <p:sp>
        <p:nvSpPr>
          <p:cNvPr id="10" name="TextBox 9"/>
          <p:cNvSpPr txBox="1"/>
          <p:nvPr/>
        </p:nvSpPr>
        <p:spPr>
          <a:xfrm>
            <a:off x="640080" y="3127248"/>
            <a:ext cx="3291840" cy="54864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E040FB"/>
                </a:solidFill>
                <a:latin typeface="Consolas"/>
              </a:rPr>
              <a:t>choice: "billing"
p = .84 · confidence = .60</a:t>
            </a:r>
          </a:p>
        </p:txBody>
      </p:sp>
      <p:sp>
        <p:nvSpPr>
          <p:cNvPr id="11" name="Rounded Rectangle 10"/>
          <p:cNvSpPr/>
          <p:nvPr/>
        </p:nvSpPr>
        <p:spPr>
          <a:xfrm>
            <a:off x="4270248" y="1645920"/>
            <a:ext cx="3657600" cy="210312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270248" y="1645920"/>
            <a:ext cx="365760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53128" y="1783080"/>
            <a:ext cx="3291840" cy="411480"/>
          </a:xfrm>
          <a:prstGeom prst="rect">
            <a:avLst/>
          </a:prstGeom>
          <a:noFill/>
        </p:spPr>
        <p:txBody>
          <a:bodyPr wrap="square" anchor="t" lIns="36576" rIns="36576" tIns="36576" bIns="36576">
            <a:spAutoFit/>
          </a:bodyPr>
          <a:lstStyle/>
          <a:p>
            <a:pPr algn="l">
              <a:lnSpc>
                <a:spcPct val="100000"/>
              </a:lnSpc>
              <a:spcAft>
                <a:spcPts val="0"/>
              </a:spcAft>
            </a:pPr>
            <a:r>
              <a:rPr sz="2200" b="0" i="0">
                <a:solidFill>
                  <a:srgbClr val="22D3EE"/>
                </a:solidFill>
                <a:latin typeface="Segoe UI Semibold"/>
              </a:rPr>
              <a:t>Score</a:t>
            </a:r>
          </a:p>
        </p:txBody>
      </p:sp>
      <p:sp>
        <p:nvSpPr>
          <p:cNvPr id="14" name="TextBox 13"/>
          <p:cNvSpPr txBox="1"/>
          <p:nvPr/>
        </p:nvSpPr>
        <p:spPr>
          <a:xfrm>
            <a:off x="4453128" y="2240280"/>
            <a:ext cx="3291840" cy="365760"/>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A3A9BC"/>
                </a:solidFill>
                <a:latin typeface="Segoe UI"/>
              </a:rPr>
              <a:t>Rate on ordered levels you describe (2–10).</a:t>
            </a:r>
          </a:p>
        </p:txBody>
      </p:sp>
      <p:sp>
        <p:nvSpPr>
          <p:cNvPr id="15" name="TextBox 14"/>
          <p:cNvSpPr txBox="1"/>
          <p:nvPr/>
        </p:nvSpPr>
        <p:spPr>
          <a:xfrm>
            <a:off x="4453128" y="2606040"/>
            <a:ext cx="3291840" cy="548640"/>
          </a:xfrm>
          <a:prstGeom prst="rect">
            <a:avLst/>
          </a:prstGeom>
          <a:noFill/>
        </p:spPr>
        <p:txBody>
          <a:bodyPr wrap="square" anchor="t" lIns="36576" rIns="36576" tIns="36576" bIns="36576">
            <a:spAutoFit/>
          </a:bodyPr>
          <a:lstStyle/>
          <a:p>
            <a:pPr algn="l">
              <a:lnSpc>
                <a:spcPct val="100000"/>
              </a:lnSpc>
              <a:spcAft>
                <a:spcPts val="0"/>
              </a:spcAft>
            </a:pPr>
            <a:r>
              <a:rPr sz="1250" b="0" i="0">
                <a:solidFill>
                  <a:srgbClr val="F5F6FA"/>
                </a:solidFill>
                <a:latin typeface="Segoe UI"/>
              </a:rPr>
              <a:t>How frustrated is the customer?
calm · frustrated · very angry</a:t>
            </a:r>
          </a:p>
        </p:txBody>
      </p:sp>
      <p:sp>
        <p:nvSpPr>
          <p:cNvPr id="16" name="TextBox 15"/>
          <p:cNvSpPr txBox="1"/>
          <p:nvPr/>
        </p:nvSpPr>
        <p:spPr>
          <a:xfrm>
            <a:off x="4453128" y="3127248"/>
            <a:ext cx="3291840" cy="54864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22D3EE"/>
                </a:solidFill>
                <a:latin typeface="Consolas"/>
              </a:rPr>
              <a:t>score: 1.04
(frustrated, not very angry)</a:t>
            </a:r>
          </a:p>
        </p:txBody>
      </p:sp>
      <p:sp>
        <p:nvSpPr>
          <p:cNvPr id="17" name="Rounded Rectangle 16"/>
          <p:cNvSpPr/>
          <p:nvPr/>
        </p:nvSpPr>
        <p:spPr>
          <a:xfrm>
            <a:off x="8083296" y="1645920"/>
            <a:ext cx="3657600" cy="210312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83296" y="1645920"/>
            <a:ext cx="365760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66175" y="1783080"/>
            <a:ext cx="3291840" cy="411480"/>
          </a:xfrm>
          <a:prstGeom prst="rect">
            <a:avLst/>
          </a:prstGeom>
          <a:noFill/>
        </p:spPr>
        <p:txBody>
          <a:bodyPr wrap="square" anchor="t" lIns="36576" rIns="36576" tIns="36576" bIns="36576">
            <a:spAutoFit/>
          </a:bodyPr>
          <a:lstStyle/>
          <a:p>
            <a:pPr algn="l">
              <a:lnSpc>
                <a:spcPct val="100000"/>
              </a:lnSpc>
              <a:spcAft>
                <a:spcPts val="0"/>
              </a:spcAft>
            </a:pPr>
            <a:r>
              <a:rPr sz="2200" b="0" i="0">
                <a:solidFill>
                  <a:srgbClr val="FBBF24"/>
                </a:solidFill>
                <a:latin typeface="Segoe UI Semibold"/>
              </a:rPr>
              <a:t>Noul</a:t>
            </a:r>
          </a:p>
        </p:txBody>
      </p:sp>
      <p:sp>
        <p:nvSpPr>
          <p:cNvPr id="20" name="TextBox 19"/>
          <p:cNvSpPr txBox="1"/>
          <p:nvPr/>
        </p:nvSpPr>
        <p:spPr>
          <a:xfrm>
            <a:off x="8266175" y="2240280"/>
            <a:ext cx="3291840" cy="365760"/>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A3A9BC"/>
                </a:solidFill>
                <a:latin typeface="Segoe UI"/>
              </a:rPr>
              <a:t>Yes/no question → probability of “yes”.</a:t>
            </a:r>
          </a:p>
        </p:txBody>
      </p:sp>
      <p:sp>
        <p:nvSpPr>
          <p:cNvPr id="21" name="TextBox 20"/>
          <p:cNvSpPr txBox="1"/>
          <p:nvPr/>
        </p:nvSpPr>
        <p:spPr>
          <a:xfrm>
            <a:off x="8266175" y="2606040"/>
            <a:ext cx="3291840" cy="548640"/>
          </a:xfrm>
          <a:prstGeom prst="rect">
            <a:avLst/>
          </a:prstGeom>
          <a:noFill/>
        </p:spPr>
        <p:txBody>
          <a:bodyPr wrap="square" anchor="t" lIns="36576" rIns="36576" tIns="36576" bIns="36576">
            <a:spAutoFit/>
          </a:bodyPr>
          <a:lstStyle/>
          <a:p>
            <a:pPr algn="l">
              <a:lnSpc>
                <a:spcPct val="100000"/>
              </a:lnSpc>
              <a:spcAft>
                <a:spcPts val="0"/>
              </a:spcAft>
            </a:pPr>
            <a:r>
              <a:rPr sz="1250" b="0" i="0">
                <a:solidFill>
                  <a:srgbClr val="F5F6FA"/>
                </a:solidFill>
                <a:latin typeface="Segoe UI"/>
              </a:rPr>
              <a:t>Does the message convey urgency?</a:t>
            </a:r>
          </a:p>
        </p:txBody>
      </p:sp>
      <p:sp>
        <p:nvSpPr>
          <p:cNvPr id="22" name="TextBox 21"/>
          <p:cNvSpPr txBox="1"/>
          <p:nvPr/>
        </p:nvSpPr>
        <p:spPr>
          <a:xfrm>
            <a:off x="8266175" y="3127248"/>
            <a:ext cx="3291840" cy="54864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FBBF24"/>
                </a:solidFill>
                <a:latin typeface="Consolas"/>
              </a:rPr>
              <a:t>noul: 0.999</a:t>
            </a:r>
          </a:p>
        </p:txBody>
      </p:sp>
      <p:sp>
        <p:nvSpPr>
          <p:cNvPr id="23" name="Rounded Rectangle 22"/>
          <p:cNvSpPr/>
          <p:nvPr/>
        </p:nvSpPr>
        <p:spPr>
          <a:xfrm>
            <a:off x="457200" y="3931920"/>
            <a:ext cx="5623560" cy="251460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1792" y="4005072"/>
            <a:ext cx="539496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Semibold"/>
              </a:rPr>
              <a:t>One request, three answers (support-ticket example from the docs)</a:t>
            </a:r>
          </a:p>
        </p:txBody>
      </p:sp>
      <p:sp>
        <p:nvSpPr>
          <p:cNvPr id="25" name="TextBox 24"/>
          <p:cNvSpPr txBox="1"/>
          <p:nvPr/>
        </p:nvSpPr>
        <p:spPr>
          <a:xfrm>
            <a:off x="621792" y="4343400"/>
            <a:ext cx="5394960" cy="2103120"/>
          </a:xfrm>
          <a:prstGeom prst="rect">
            <a:avLst/>
          </a:prstGeom>
          <a:noFill/>
        </p:spPr>
        <p:txBody>
          <a:bodyPr wrap="square" anchor="t" lIns="36576" rIns="36576" tIns="36576" bIns="36576">
            <a:spAutoFit/>
          </a:bodyPr>
          <a:lstStyle/>
          <a:p>
            <a:pPr algn="l">
              <a:lnSpc>
                <a:spcPct val="110000"/>
              </a:lnSpc>
              <a:spcAft>
                <a:spcPts val="0"/>
              </a:spcAft>
            </a:pPr>
            <a:r>
              <a:rPr sz="1150" b="0" i="0">
                <a:solidFill>
                  <a:srgbClr val="22D3EE"/>
                </a:solidFill>
                <a:latin typeface="Consolas"/>
              </a:rPr>
              <a:t>POST</a:t>
            </a:r>
            <a:r>
              <a:rPr sz="1150" b="0" i="0">
                <a:solidFill>
                  <a:srgbClr val="F5F6FA"/>
                </a:solidFill>
                <a:latin typeface="Consolas"/>
              </a:rPr>
              <a:t> /v1/systemone</a:t>
            </a:r>
          </a:p>
          <a:p>
            <a:pPr algn="l">
              <a:lnSpc>
                <a:spcPct val="110000"/>
              </a:lnSpc>
              <a:spcAft>
                <a:spcPts val="0"/>
              </a:spcAft>
            </a:pPr>
            <a:r>
              <a:rPr sz="1150" b="0" i="0">
                <a:solidFill>
                  <a:srgbClr val="F5F6FA"/>
                </a:solidFill>
                <a:latin typeface="Consolas"/>
              </a:rPr>
              <a:t>{ </a:t>
            </a:r>
            <a:r>
              <a:rPr sz="1150" b="0" i="0">
                <a:solidFill>
                  <a:srgbClr val="FBBF24"/>
                </a:solidFill>
                <a:latin typeface="Consolas"/>
              </a:rPr>
              <a:t>"state"</a:t>
            </a:r>
            <a:r>
              <a:rPr sz="1150" b="0" i="0">
                <a:solidFill>
                  <a:srgbClr val="F5F6FA"/>
                </a:solidFill>
                <a:latin typeface="Consolas"/>
              </a:rPr>
              <a:t>: "My Stripe connection has failed for 3 days.</a:t>
            </a:r>
          </a:p>
          <a:p>
            <a:pPr algn="l">
              <a:lnSpc>
                <a:spcPct val="110000"/>
              </a:lnSpc>
              <a:spcAft>
                <a:spcPts val="0"/>
              </a:spcAft>
            </a:pPr>
            <a:r>
              <a:rPr sz="1150" b="0" i="0">
                <a:solidFill>
                  <a:srgbClr val="F5F6FA"/>
                </a:solidFill>
                <a:latin typeface="Consolas"/>
              </a:rPr>
              <a:t>            I'm losing sales. Please help ASAP.",</a:t>
            </a:r>
          </a:p>
          <a:p>
            <a:pPr algn="l">
              <a:lnSpc>
                <a:spcPct val="110000"/>
              </a:lnSpc>
              <a:spcAft>
                <a:spcPts val="0"/>
              </a:spcAft>
            </a:pPr>
            <a:r>
              <a:rPr sz="1150" b="0" i="0">
                <a:solidFill>
                  <a:srgbClr val="F5F6FA"/>
                </a:solidFill>
                <a:latin typeface="Consolas"/>
              </a:rPr>
              <a:t>  </a:t>
            </a:r>
            <a:r>
              <a:rPr sz="1150" b="0" i="0">
                <a:solidFill>
                  <a:srgbClr val="FBBF24"/>
                </a:solidFill>
                <a:latin typeface="Consolas"/>
              </a:rPr>
              <a:t>"questions"</a:t>
            </a:r>
            <a:r>
              <a:rPr sz="1150" b="0" i="0">
                <a:solidFill>
                  <a:srgbClr val="F5F6FA"/>
                </a:solidFill>
                <a:latin typeface="Consolas"/>
              </a:rPr>
              <a:t>: {</a:t>
            </a:r>
          </a:p>
          <a:p>
            <a:pPr algn="l">
              <a:lnSpc>
                <a:spcPct val="110000"/>
              </a:lnSpc>
              <a:spcAft>
                <a:spcPts val="0"/>
              </a:spcAft>
            </a:pPr>
            <a:r>
              <a:rPr sz="1150" b="0" i="0">
                <a:solidFill>
                  <a:srgbClr val="F5F6FA"/>
                </a:solidFill>
                <a:latin typeface="Consolas"/>
              </a:rPr>
              <a:t>    "team":   {</a:t>
            </a:r>
            <a:r>
              <a:rPr sz="1150" b="0" i="0">
                <a:solidFill>
                  <a:srgbClr val="E040FB"/>
                </a:solidFill>
                <a:latin typeface="Consolas"/>
              </a:rPr>
              <a:t>"type": "choice"</a:t>
            </a:r>
            <a:r>
              <a:rPr sz="1150" b="0" i="0">
                <a:solidFill>
                  <a:srgbClr val="F5F6FA"/>
                </a:solidFill>
                <a:latin typeface="Consolas"/>
              </a:rPr>
              <a:t>, "criteria": {"billing": …}},</a:t>
            </a:r>
          </a:p>
          <a:p>
            <a:pPr algn="l">
              <a:lnSpc>
                <a:spcPct val="110000"/>
              </a:lnSpc>
              <a:spcAft>
                <a:spcPts val="0"/>
              </a:spcAft>
            </a:pPr>
            <a:r>
              <a:rPr sz="1150" b="0" i="0">
                <a:solidFill>
                  <a:srgbClr val="F5F6FA"/>
                </a:solidFill>
                <a:latin typeface="Consolas"/>
              </a:rPr>
              <a:t>    "mood":   {</a:t>
            </a:r>
            <a:r>
              <a:rPr sz="1150" b="0" i="0">
                <a:solidFill>
                  <a:srgbClr val="22D3EE"/>
                </a:solidFill>
                <a:latin typeface="Consolas"/>
              </a:rPr>
              <a:t>"type": "score"</a:t>
            </a:r>
            <a:r>
              <a:rPr sz="1150" b="0" i="0">
                <a:solidFill>
                  <a:srgbClr val="F5F6FA"/>
                </a:solidFill>
                <a:latin typeface="Consolas"/>
              </a:rPr>
              <a:t>, "criteria": ["calm", …]},</a:t>
            </a:r>
          </a:p>
          <a:p>
            <a:pPr algn="l">
              <a:lnSpc>
                <a:spcPct val="110000"/>
              </a:lnSpc>
              <a:spcAft>
                <a:spcPts val="0"/>
              </a:spcAft>
            </a:pPr>
            <a:r>
              <a:rPr sz="1150" b="0" i="0">
                <a:solidFill>
                  <a:srgbClr val="F5F6FA"/>
                </a:solidFill>
                <a:latin typeface="Consolas"/>
              </a:rPr>
              <a:t>    "urgent": {</a:t>
            </a:r>
            <a:r>
              <a:rPr sz="1150" b="0" i="0">
                <a:solidFill>
                  <a:srgbClr val="FBBF24"/>
                </a:solidFill>
                <a:latin typeface="Consolas"/>
              </a:rPr>
              <a:t>"type": "noul"</a:t>
            </a:r>
            <a:r>
              <a:rPr sz="1150" b="0" i="0">
                <a:solidFill>
                  <a:srgbClr val="F5F6FA"/>
                </a:solidFill>
                <a:latin typeface="Consolas"/>
              </a:rPr>
              <a:t>, "instructions": "Urgent?"} } }</a:t>
            </a:r>
          </a:p>
          <a:p>
            <a:pPr algn="l">
              <a:lnSpc>
                <a:spcPct val="110000"/>
              </a:lnSpc>
              <a:spcAft>
                <a:spcPts val="0"/>
              </a:spcAft>
            </a:pPr>
            <a:r>
              <a:rPr sz="1150" b="0" i="0">
                <a:solidFill>
                  <a:srgbClr val="34D399"/>
                </a:solidFill>
                <a:latin typeface="Consolas"/>
              </a:rPr>
              <a:t>→ team = billing (.84) · mood = 1.04 · urgent = 0.999</a:t>
            </a:r>
          </a:p>
        </p:txBody>
      </p:sp>
      <p:sp>
        <p:nvSpPr>
          <p:cNvPr id="26" name="Rounded Rectangle 25"/>
          <p:cNvSpPr/>
          <p:nvPr/>
        </p:nvSpPr>
        <p:spPr>
          <a:xfrm>
            <a:off x="6263640" y="3931920"/>
            <a:ext cx="5468112" cy="251460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28232" y="4005072"/>
            <a:ext cx="5212080" cy="274320"/>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F5F6FA"/>
                </a:solidFill>
                <a:latin typeface="Segoe UI Semibold"/>
              </a:rPr>
              <a:t>Where it fits: around the LLM in the agent loop</a:t>
            </a:r>
            <a:r>
              <a:rPr sz="1150" b="0" i="0">
                <a:solidFill>
                  <a:srgbClr val="A3A9BC"/>
                </a:solidFill>
                <a:latin typeface="Segoe UI"/>
              </a:rPr>
              <a:t>  (LangChain)</a:t>
            </a:r>
          </a:p>
        </p:txBody>
      </p:sp>
      <p:sp>
        <p:nvSpPr>
          <p:cNvPr id="28" name="TextBox 27"/>
          <p:cNvSpPr txBox="1"/>
          <p:nvPr/>
        </p:nvSpPr>
        <p:spPr>
          <a:xfrm>
            <a:off x="6428232" y="4370832"/>
            <a:ext cx="5166360" cy="2011680"/>
          </a:xfrm>
          <a:prstGeom prst="rect">
            <a:avLst/>
          </a:prstGeom>
          <a:noFill/>
        </p:spPr>
        <p:txBody>
          <a:bodyPr wrap="square" anchor="t" lIns="36576" rIns="36576" tIns="36576" bIns="36576">
            <a:spAutoFit/>
          </a:bodyPr>
          <a:lstStyle/>
          <a:p>
            <a:pPr algn="l">
              <a:lnSpc>
                <a:spcPct val="105000"/>
              </a:lnSpc>
              <a:spcAft>
                <a:spcPts val="600"/>
              </a:spcAft>
            </a:pPr>
            <a:r>
              <a:rPr sz="1150" b="0" i="0">
                <a:solidFill>
                  <a:srgbClr val="34D399"/>
                </a:solidFill>
                <a:latin typeface="Segoe UI Semibold"/>
              </a:rPr>
              <a:t>▸  </a:t>
            </a:r>
            <a:r>
              <a:rPr sz="1150" b="0" i="0">
                <a:solidFill>
                  <a:srgbClr val="F5F6FA"/>
                </a:solidFill>
                <a:latin typeface="Segoe UI Semibold"/>
              </a:rPr>
              <a:t>Model routing.  </a:t>
            </a:r>
            <a:r>
              <a:rPr sz="1150" b="0" i="0">
                <a:solidFill>
                  <a:srgbClr val="A3A9BC"/>
                </a:solidFill>
                <a:latin typeface="Segoe UI"/>
              </a:rPr>
              <a:t>Pick the cheapest LLM that can handle each request, almost instantly.</a:t>
            </a:r>
          </a:p>
          <a:p>
            <a:pPr algn="l">
              <a:lnSpc>
                <a:spcPct val="105000"/>
              </a:lnSpc>
              <a:spcAft>
                <a:spcPts val="600"/>
              </a:spcAft>
            </a:pPr>
            <a:r>
              <a:rPr sz="1150" b="0" i="0">
                <a:solidFill>
                  <a:srgbClr val="34D399"/>
                </a:solidFill>
                <a:latin typeface="Segoe UI Semibold"/>
              </a:rPr>
              <a:t>▸  </a:t>
            </a:r>
            <a:r>
              <a:rPr sz="1150" b="0" i="0">
                <a:solidFill>
                  <a:srgbClr val="F5F6FA"/>
                </a:solidFill>
                <a:latin typeface="Segoe UI Semibold"/>
              </a:rPr>
              <a:t>Auto mode.  </a:t>
            </a:r>
            <a:r>
              <a:rPr sz="1150" b="0" i="0">
                <a:solidFill>
                  <a:srgbClr val="A3A9BC"/>
                </a:solidFill>
                <a:latin typeface="Segoe UI"/>
              </a:rPr>
              <a:t>Classify every tool call (delete DB, mass send) and block risky ones before they run - fast enough to keep it switched on.</a:t>
            </a:r>
          </a:p>
          <a:p>
            <a:pPr algn="l">
              <a:lnSpc>
                <a:spcPct val="105000"/>
              </a:lnSpc>
              <a:spcAft>
                <a:spcPts val="600"/>
              </a:spcAft>
            </a:pPr>
            <a:r>
              <a:rPr sz="1150" b="0" i="0">
                <a:solidFill>
                  <a:srgbClr val="34D399"/>
                </a:solidFill>
                <a:latin typeface="Segoe UI Semibold"/>
              </a:rPr>
              <a:t>▸  </a:t>
            </a:r>
            <a:r>
              <a:rPr sz="1150" b="0" i="0">
                <a:solidFill>
                  <a:srgbClr val="F5F6FA"/>
                </a:solidFill>
                <a:latin typeface="Segoe UI Semibold"/>
              </a:rPr>
              <a:t>Jev-as-a-judge.  </a:t>
            </a:r>
            <a:r>
              <a:rPr sz="1150" b="0" i="0">
                <a:solidFill>
                  <a:srgbClr val="A3A9BC"/>
                </a:solidFill>
                <a:latin typeface="Segoe UI"/>
              </a:rPr>
              <a:t>Score agent answers against a rubric (correct? grounded? cited?) for online evals: cheaper, faster and more consistent than LLM-as-judge.</a:t>
            </a:r>
          </a:p>
        </p:txBody>
      </p:sp>
      <p:sp>
        <p:nvSpPr>
          <p:cNvPr id="29" name="TextBox 28">
            <a:hlinkClick r:id="rId2"/>
          </p:cNvPr>
          <p:cNvSpPr txBox="1"/>
          <p:nvPr/>
        </p:nvSpPr>
        <p:spPr>
          <a:xfrm>
            <a:off x="6428232" y="6126480"/>
            <a:ext cx="521208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Video: “Building a Harness with Jev” – LangChain  ·  pip install langchain-typesafe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FOR MARKETING SOFTWARE  ·  3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Thousands of tiny marketing decisions, in milliseconds</a:t>
            </a:r>
          </a:p>
        </p:txBody>
      </p:sp>
      <p:graphicFrame>
        <p:nvGraphicFramePr>
          <p:cNvPr id="4" name="Table 3"/>
          <p:cNvGraphicFramePr>
            <a:graphicFrameLocks noGrp="1"/>
          </p:cNvGraphicFramePr>
          <p:nvPr/>
        </p:nvGraphicFramePr>
        <p:xfrm>
          <a:off x="457200" y="1280160"/>
          <a:ext cx="7086598" cy="3538728"/>
        </p:xfrm>
        <a:graphic>
          <a:graphicData uri="http://schemas.openxmlformats.org/drawingml/2006/table">
            <a:tbl>
              <a:tblPr firstRow="1">
                <a:tableStyleId>{2D5ABB26-0587-4C30-8999-92F81FD0307C}</a:tableStyleId>
              </a:tblPr>
              <a:tblGrid>
                <a:gridCol w="1874519"/>
                <a:gridCol w="3977639"/>
                <a:gridCol w="1234440"/>
              </a:tblGrid>
              <a:tr h="393192">
                <a:tc>
                  <a:txBody>
                    <a:bodyPr wrap="square"/>
                    <a:lstStyle/>
                    <a:p>
                      <a:r>
                        <a:rPr sz="1050" b="0" i="0">
                          <a:solidFill>
                            <a:srgbClr val="A3A9BC"/>
                          </a:solidFill>
                          <a:latin typeface="Segoe UI Semibold"/>
                        </a:rPr>
                        <a:t>Use case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c>
                  <a:txBody>
                    <a:bodyPr wrap="square"/>
                    <a:lstStyle/>
                    <a:p>
                      <a:r>
                        <a:rPr sz="1050" b="0" i="0">
                          <a:solidFill>
                            <a:srgbClr val="A3A9BC"/>
                          </a:solidFill>
                          <a:latin typeface="Segoe UI Semibold"/>
                        </a:rPr>
                        <a:t>Question Jev answers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c>
                  <a:txBody>
                    <a:bodyPr wrap="square"/>
                    <a:lstStyle/>
                    <a:p>
                      <a:r>
                        <a:rPr sz="1050" b="0" i="0">
                          <a:solidFill>
                            <a:srgbClr val="A3A9BC"/>
                          </a:solidFill>
                          <a:latin typeface="Segoe UI Semibold"/>
                        </a:rPr>
                        <a:t>Primitive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r>
              <a:tr h="393192">
                <a:tc>
                  <a:txBody>
                    <a:bodyPr wrap="square"/>
                    <a:lstStyle/>
                    <a:p>
                      <a:r>
                        <a:rPr sz="1150" b="0" i="0">
                          <a:solidFill>
                            <a:srgbClr val="F5F6FA"/>
                          </a:solidFill>
                          <a:latin typeface="Segoe UI Semibold"/>
                        </a:rPr>
                        <a:t>Lead scoring &amp; routing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A3A9BC"/>
                          </a:solidFill>
                          <a:latin typeface="Segoe UI"/>
                        </a:rPr>
                        <a:t>How well does the lead fit our ICP? How ready to buy? Who owns it?</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22D3EE"/>
                          </a:solidFill>
                          <a:latin typeface="Segoe UI Semibold"/>
                        </a:rPr>
                        <a:t>Score + Choice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393192">
                <a:tc>
                  <a:txBody>
                    <a:bodyPr wrap="square"/>
                    <a:lstStyle/>
                    <a:p>
                      <a:r>
                        <a:rPr sz="1150" b="0" i="0">
                          <a:solidFill>
                            <a:srgbClr val="F5F6FA"/>
                          </a:solidFill>
                          <a:latin typeface="Segoe UI Semibold"/>
                        </a:rPr>
                        <a:t>Campaign reply triage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A3A9BC"/>
                          </a:solidFill>
                          <a:latin typeface="Segoe UI"/>
                        </a:rPr>
                        <a:t>Meeting, not now, unsubscribe, out of office, wrong person?</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E040FB"/>
                          </a:solidFill>
                          <a:latin typeface="Segoe UI Semibold"/>
                        </a:rPr>
                        <a:t>Choice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393192">
                <a:tc>
                  <a:txBody>
                    <a:bodyPr wrap="square"/>
                    <a:lstStyle/>
                    <a:p>
                      <a:r>
                        <a:rPr sz="1150" b="0" i="0">
                          <a:solidFill>
                            <a:srgbClr val="F5F6FA"/>
                          </a:solidFill>
                          <a:latin typeface="Segoe UI Semibold"/>
                        </a:rPr>
                        <a:t>Search terms &amp; negatives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A3A9BC"/>
                          </a:solidFill>
                          <a:latin typeface="Segoe UI"/>
                        </a:rPr>
                        <a:t>Buyer, researcher, job seeker, competitor or junk?</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E040FB"/>
                          </a:solidFill>
                          <a:latin typeface="Segoe UI Semibold"/>
                        </a:rPr>
                        <a:t>Choice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393192">
                <a:tc>
                  <a:txBody>
                    <a:bodyPr wrap="square"/>
                    <a:lstStyle/>
                    <a:p>
                      <a:r>
                        <a:rPr sz="1150" b="0" i="0">
                          <a:solidFill>
                            <a:srgbClr val="F5F6FA"/>
                          </a:solidFill>
                          <a:latin typeface="Segoe UI Semibold"/>
                        </a:rPr>
                        <a:t>Ad creative tagging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A3A9BC"/>
                          </a:solidFill>
                          <a:latin typeface="Segoe UI"/>
                        </a:rPr>
                        <a:t>Hook, format, offer, awareness stage? (724 ads in 40 s ≈ $0.09)</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E040FB"/>
                          </a:solidFill>
                          <a:latin typeface="Segoe UI Semibold"/>
                        </a:rPr>
                        <a:t>Choice ×4</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393192">
                <a:tc>
                  <a:txBody>
                    <a:bodyPr wrap="square"/>
                    <a:lstStyle/>
                    <a:p>
                      <a:r>
                        <a:rPr sz="1150" b="0" i="0">
                          <a:solidFill>
                            <a:srgbClr val="F5F6FA"/>
                          </a:solidFill>
                          <a:latin typeface="Segoe UI Semibold"/>
                        </a:rPr>
                        <a:t>SEO internal linking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A3A9BC"/>
                          </a:solidFill>
                          <a:latin typeface="Segoe UI"/>
                        </a:rPr>
                        <a:t>Is there an honest reason to link page A to page B?</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FBBF24"/>
                          </a:solidFill>
                          <a:latin typeface="Segoe UI Semibold"/>
                        </a:rPr>
                        <a:t>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393192">
                <a:tc>
                  <a:txBody>
                    <a:bodyPr wrap="square"/>
                    <a:lstStyle/>
                    <a:p>
                      <a:r>
                        <a:rPr sz="1150" b="0" i="0">
                          <a:solidFill>
                            <a:srgbClr val="F5F6FA"/>
                          </a:solidFill>
                          <a:latin typeface="Segoe UI Semibold"/>
                        </a:rPr>
                        <a:t>Social listening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A3A9BC"/>
                          </a:solidFill>
                          <a:latin typeface="Segoe UI"/>
                        </a:rPr>
                        <a:t>Engagement bait? Sentiment? Complaint, question or churn?</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FBBF24"/>
                          </a:solidFill>
                          <a:latin typeface="Segoe UI Semibold"/>
                        </a:rPr>
                        <a:t>Noul + Score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393192">
                <a:tc>
                  <a:txBody>
                    <a:bodyPr wrap="square"/>
                    <a:lstStyle/>
                    <a:p>
                      <a:r>
                        <a:rPr sz="1150" b="0" i="0">
                          <a:solidFill>
                            <a:srgbClr val="F5F6FA"/>
                          </a:solidFill>
                          <a:latin typeface="Segoe UI Semibold"/>
                        </a:rPr>
                        <a:t>Content QA gate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A3A9BC"/>
                          </a:solidFill>
                          <a:latin typeface="Segoe UI"/>
                        </a:rPr>
                        <a:t>Does this draft meet each of the 20 checklist points?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FBBF24"/>
                          </a:solidFill>
                          <a:latin typeface="Segoe UI Semibold"/>
                        </a:rPr>
                        <a:t>Noul ×20</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393192">
                <a:tc>
                  <a:txBody>
                    <a:bodyPr wrap="square"/>
                    <a:lstStyle/>
                    <a:p>
                      <a:r>
                        <a:rPr sz="1150" b="0" i="0">
                          <a:solidFill>
                            <a:srgbClr val="F5F6FA"/>
                          </a:solidFill>
                          <a:latin typeface="Segoe UI Semibold"/>
                        </a:rPr>
                        <a:t>AI assistant harness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A3A9BC"/>
                          </a:solidFill>
                          <a:latin typeface="Segoe UI"/>
                        </a:rPr>
                        <a:t>Fast or powerful LLM? Is this tool call risky? Is the claim grounded?</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E040FB"/>
                          </a:solidFill>
                          <a:latin typeface="Segoe UI Semibold"/>
                        </a:rPr>
                        <a:t>Choice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bl>
          </a:graphicData>
        </a:graphic>
      </p:graphicFrame>
      <p:pic>
        <p:nvPicPr>
          <p:cNvPr id="5" name="Picture 4" descr="yt_I34qxJjyms0_demos.jpg">
            <a:hlinkClick r:id="rId3"/>
          </p:cNvPr>
          <p:cNvPicPr>
            <a:picLocks noChangeAspect="1"/>
          </p:cNvPicPr>
          <p:nvPr/>
        </p:nvPicPr>
        <p:blipFill>
          <a:blip r:embed="rId2"/>
          <a:stretch>
            <a:fillRect/>
          </a:stretch>
        </p:blipFill>
        <p:spPr>
          <a:xfrm>
            <a:off x="7772400" y="1280160"/>
            <a:ext cx="3959352" cy="1781708"/>
          </a:xfrm>
          <a:prstGeom prst="rect">
            <a:avLst/>
          </a:prstGeom>
          <a:ln w="12700">
            <a:solidFill>
              <a:srgbClr val="33384A"/>
            </a:solidFill>
          </a:ln>
        </p:spPr>
      </p:pic>
      <p:sp>
        <p:nvSpPr>
          <p:cNvPr id="6" name="TextBox 5">
            <a:hlinkClick r:id="rId3"/>
          </p:cNvPr>
          <p:cNvSpPr txBox="1"/>
          <p:nvPr/>
        </p:nvSpPr>
        <p:spPr>
          <a:xfrm>
            <a:off x="7772400" y="3098444"/>
            <a:ext cx="3977639"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Video: “Jev Is WAY More Powerful Than We Thought” – Pursuing AI</a:t>
            </a:r>
          </a:p>
        </p:txBody>
      </p:sp>
      <p:sp>
        <p:nvSpPr>
          <p:cNvPr id="7" name="TextBox 6"/>
          <p:cNvSpPr txBox="1"/>
          <p:nvPr/>
        </p:nvSpPr>
        <p:spPr>
          <a:xfrm>
            <a:off x="7772400" y="3445916"/>
            <a:ext cx="3977639" cy="1463040"/>
          </a:xfrm>
          <a:prstGeom prst="rect">
            <a:avLst/>
          </a:prstGeom>
          <a:noFill/>
        </p:spPr>
        <p:txBody>
          <a:bodyPr wrap="square" anchor="t" lIns="36576" rIns="36576" tIns="36576" bIns="36576">
            <a:spAutoFit/>
          </a:bodyPr>
          <a:lstStyle/>
          <a:p>
            <a:pPr algn="l">
              <a:lnSpc>
                <a:spcPct val="100000"/>
              </a:lnSpc>
              <a:spcAft>
                <a:spcPts val="400"/>
              </a:spcAft>
            </a:pPr>
            <a:r>
              <a:rPr sz="1050" b="0" i="0">
                <a:solidFill>
                  <a:srgbClr val="F5F6FA"/>
                </a:solidFill>
                <a:latin typeface="Segoe UI Semibold"/>
              </a:rPr>
              <a:t>SEO: </a:t>
            </a:r>
            <a:r>
              <a:rPr sz="1050" b="0" i="0">
                <a:solidFill>
                  <a:srgbClr val="A3A9BC"/>
                </a:solidFill>
                <a:latin typeface="Segoe UI"/>
              </a:rPr>
              <a:t>586 pages in 45 s, 584 links placed, 139 rejected, $0.21 (Claude Opus 5: 21 pages, $1.43)</a:t>
            </a:r>
          </a:p>
          <a:p>
            <a:pPr algn="l">
              <a:lnSpc>
                <a:spcPct val="100000"/>
              </a:lnSpc>
              <a:spcAft>
                <a:spcPts val="400"/>
              </a:spcAft>
            </a:pPr>
            <a:r>
              <a:rPr sz="1050" b="0" i="0">
                <a:solidFill>
                  <a:srgbClr val="F5F6FA"/>
                </a:solidFill>
                <a:latin typeface="Segoe UI Semibold"/>
              </a:rPr>
              <a:t>Also: </a:t>
            </a:r>
            <a:r>
              <a:rPr sz="1050" b="0" i="0">
                <a:solidFill>
                  <a:srgbClr val="A3A9BC"/>
                </a:solidFill>
                <a:latin typeface="Segoe UI"/>
              </a:rPr>
              <a:t>driving sim, trolley problem 100/100, designer's emoji explorer, voice-controlled drawing app, live slop detector, Laya playing Snake at ~60 decisions/s</a:t>
            </a:r>
          </a:p>
          <a:p>
            <a:pPr algn="l">
              <a:lnSpc>
                <a:spcPct val="100000"/>
              </a:lnSpc>
              <a:spcAft>
                <a:spcPts val="400"/>
              </a:spcAft>
            </a:pPr>
            <a:r>
              <a:rPr sz="1050" b="0" i="0">
                <a:solidFill>
                  <a:srgbClr val="22D3EE"/>
                </a:solidFill>
                <a:latin typeface="Segoe UI Semibold"/>
              </a:rPr>
              <a:t>We rebuilt two of them </a:t>
            </a:r>
            <a:r>
              <a:rPr sz="1050" b="0" i="0">
                <a:solidFill>
                  <a:srgbClr val="22D3EE"/>
                </a:solidFill>
                <a:latin typeface="Segoe UI"/>
              </a:rPr>
              <a:t>→ slide 6</a:t>
            </a:r>
          </a:p>
        </p:txBody>
      </p:sp>
      <p:sp>
        <p:nvSpPr>
          <p:cNvPr id="8" name="TextBox 7"/>
          <p:cNvSpPr txBox="1"/>
          <p:nvPr/>
        </p:nvSpPr>
        <p:spPr>
          <a:xfrm>
            <a:off x="457200" y="4937760"/>
            <a:ext cx="7315200" cy="27432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F5F6FA"/>
                </a:solidFill>
                <a:latin typeface="Segoe UI Semibold"/>
              </a:rPr>
              <a:t>The decide-then-act loop</a:t>
            </a:r>
            <a:r>
              <a:rPr sz="1200" b="0" i="0">
                <a:solidFill>
                  <a:srgbClr val="A3A9BC"/>
                </a:solidFill>
                <a:latin typeface="Segoe UI"/>
              </a:rPr>
              <a:t>  ·  same architecture for every row above</a:t>
            </a:r>
          </a:p>
        </p:txBody>
      </p:sp>
      <p:sp>
        <p:nvSpPr>
          <p:cNvPr id="9" name="Pentagon 8"/>
          <p:cNvSpPr/>
          <p:nvPr/>
        </p:nvSpPr>
        <p:spPr>
          <a:xfrm>
            <a:off x="457200" y="5285232"/>
            <a:ext cx="2011680" cy="749808"/>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F5F6FA"/>
                </a:solidFill>
                <a:latin typeface="Segoe UI Semibold"/>
              </a:rPr>
              <a:t>Collect</a:t>
            </a:r>
          </a:p>
          <a:p>
            <a:pPr algn="ctr">
              <a:lnSpc>
                <a:spcPct val="100000"/>
              </a:lnSpc>
              <a:spcAft>
                <a:spcPts val="0"/>
              </a:spcAft>
            </a:pPr>
            <a:r>
              <a:rPr sz="950" b="0" i="0">
                <a:solidFill>
                  <a:srgbClr val="F5F6FA"/>
                </a:solidFill>
                <a:latin typeface="Segoe UI"/>
              </a:rPr>
              <a:t>rows via API / code</a:t>
            </a:r>
          </a:p>
        </p:txBody>
      </p:sp>
      <p:sp>
        <p:nvSpPr>
          <p:cNvPr id="10" name="Chevron 9"/>
          <p:cNvSpPr/>
          <p:nvPr/>
        </p:nvSpPr>
        <p:spPr>
          <a:xfrm>
            <a:off x="2340864" y="5285232"/>
            <a:ext cx="2011680" cy="749808"/>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F5F6FA"/>
                </a:solidFill>
                <a:latin typeface="Segoe UI Semibold"/>
              </a:rPr>
              <a:t>Shortlist</a:t>
            </a:r>
          </a:p>
          <a:p>
            <a:pPr algn="ctr">
              <a:lnSpc>
                <a:spcPct val="100000"/>
              </a:lnSpc>
              <a:spcAft>
                <a:spcPts val="0"/>
              </a:spcAft>
            </a:pPr>
            <a:r>
              <a:rPr sz="950" b="0" i="0">
                <a:solidFill>
                  <a:srgbClr val="F5F6FA"/>
                </a:solidFill>
                <a:latin typeface="Segoe UI"/>
              </a:rPr>
              <a:t>rules or embeddings</a:t>
            </a:r>
          </a:p>
        </p:txBody>
      </p:sp>
      <p:sp>
        <p:nvSpPr>
          <p:cNvPr id="11" name="Chevron 10"/>
          <p:cNvSpPr/>
          <p:nvPr/>
        </p:nvSpPr>
        <p:spPr>
          <a:xfrm>
            <a:off x="4224528" y="5285232"/>
            <a:ext cx="2011680" cy="749808"/>
          </a:xfrm>
          <a:prstGeom prst="chevron">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0F1117"/>
                </a:solidFill>
                <a:latin typeface="Segoe UI Semibold"/>
              </a:rPr>
              <a:t>Ask Jev</a:t>
            </a:r>
          </a:p>
          <a:p>
            <a:pPr algn="ctr">
              <a:lnSpc>
                <a:spcPct val="100000"/>
              </a:lnSpc>
              <a:spcAft>
                <a:spcPts val="0"/>
              </a:spcAft>
            </a:pPr>
            <a:r>
              <a:rPr sz="950" b="0" i="0">
                <a:solidFill>
                  <a:srgbClr val="0F1117"/>
                </a:solidFill>
                <a:latin typeface="Segoe UI"/>
              </a:rPr>
              <a:t>Choice · Score · Noul</a:t>
            </a:r>
          </a:p>
        </p:txBody>
      </p:sp>
      <p:sp>
        <p:nvSpPr>
          <p:cNvPr id="12" name="Chevron 11"/>
          <p:cNvSpPr/>
          <p:nvPr/>
        </p:nvSpPr>
        <p:spPr>
          <a:xfrm>
            <a:off x="6108192" y="5285232"/>
            <a:ext cx="2011680" cy="749808"/>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0F1117"/>
                </a:solidFill>
                <a:latin typeface="Segoe UI Semibold"/>
              </a:rPr>
              <a:t>Threshold</a:t>
            </a:r>
          </a:p>
          <a:p>
            <a:pPr algn="ctr">
              <a:lnSpc>
                <a:spcPct val="100000"/>
              </a:lnSpc>
              <a:spcAft>
                <a:spcPts val="0"/>
              </a:spcAft>
            </a:pPr>
            <a:r>
              <a:rPr sz="950" b="0" i="0">
                <a:solidFill>
                  <a:srgbClr val="0F1117"/>
                </a:solidFill>
                <a:latin typeface="Segoe UI"/>
              </a:rPr>
              <a:t>auto · review · drop</a:t>
            </a:r>
          </a:p>
        </p:txBody>
      </p:sp>
      <p:sp>
        <p:nvSpPr>
          <p:cNvPr id="13" name="Chevron 12"/>
          <p:cNvSpPr/>
          <p:nvPr/>
        </p:nvSpPr>
        <p:spPr>
          <a:xfrm>
            <a:off x="7991856" y="5285232"/>
            <a:ext cx="2011680" cy="749808"/>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F5F6FA"/>
                </a:solidFill>
                <a:latin typeface="Segoe UI Semibold"/>
              </a:rPr>
              <a:t>LLM writes</a:t>
            </a:r>
          </a:p>
          <a:p>
            <a:pPr algn="ctr">
              <a:lnSpc>
                <a:spcPct val="100000"/>
              </a:lnSpc>
              <a:spcAft>
                <a:spcPts val="0"/>
              </a:spcAft>
            </a:pPr>
            <a:r>
              <a:rPr sz="950" b="0" i="0">
                <a:solidFill>
                  <a:srgbClr val="F5F6FA"/>
                </a:solidFill>
                <a:latin typeface="Segoe UI"/>
              </a:rPr>
              <a:t>only what passed</a:t>
            </a:r>
          </a:p>
        </p:txBody>
      </p:sp>
      <p:sp>
        <p:nvSpPr>
          <p:cNvPr id="14" name="Chevron 13"/>
          <p:cNvSpPr/>
          <p:nvPr/>
        </p:nvSpPr>
        <p:spPr>
          <a:xfrm>
            <a:off x="9875520" y="5285232"/>
            <a:ext cx="2011680" cy="749808"/>
          </a:xfrm>
          <a:prstGeom prst="chevron">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0F1117"/>
                </a:solidFill>
                <a:latin typeface="Segoe UI Semibold"/>
              </a:rPr>
              <a:t>Verify</a:t>
            </a:r>
          </a:p>
          <a:p>
            <a:pPr algn="ctr">
              <a:lnSpc>
                <a:spcPct val="100000"/>
              </a:lnSpc>
              <a:spcAft>
                <a:spcPts val="0"/>
              </a:spcAft>
            </a:pPr>
            <a:r>
              <a:rPr sz="950" b="0" i="0">
                <a:solidFill>
                  <a:srgbClr val="0F1117"/>
                </a:solidFill>
                <a:latin typeface="Segoe UI"/>
              </a:rPr>
              <a:t>Jev checks the output</a:t>
            </a:r>
          </a:p>
        </p:txBody>
      </p:sp>
      <p:sp>
        <p:nvSpPr>
          <p:cNvPr id="15" name="TextBox 14"/>
          <p:cNvSpPr txBox="1"/>
          <p:nvPr/>
        </p:nvSpPr>
        <p:spPr>
          <a:xfrm>
            <a:off x="457200" y="6144768"/>
            <a:ext cx="11338560" cy="45720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F87171"/>
                </a:solidFill>
                <a:latin typeface="Segoe UI Semibold"/>
              </a:rPr>
              <a:t>Limits: </a:t>
            </a:r>
            <a:r>
              <a:rPr sz="1100" b="0" i="0">
                <a:solidFill>
                  <a:srgbClr val="A3A9BC"/>
                </a:solidFill>
                <a:latin typeface="Segoe UI"/>
              </a:rPr>
              <a:t>no rationale (a number, not a reason) · closed answer sets only · triage-grade accuracy (vendor benchmark ~68% vs ~73% for frontier LLMs) · early access, price may change. If the answer must be written, it belongs to an LLM.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GETTING ACCESS  ·  4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Jev is not publicly available yet - not even in Microsoft Foundry</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Early access since 15 Sep 2026, sign-up required. Three ways to work with a System One model today:</a:t>
            </a:r>
          </a:p>
        </p:txBody>
      </p:sp>
      <p:sp>
        <p:nvSpPr>
          <p:cNvPr id="5" name="Rounded Rectangle 4"/>
          <p:cNvSpPr/>
          <p:nvPr/>
        </p:nvSpPr>
        <p:spPr>
          <a:xfrm>
            <a:off x="457200" y="1600200"/>
            <a:ext cx="3611880" cy="283464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00200"/>
            <a:ext cx="361188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21792" y="1746504"/>
            <a:ext cx="3337560" cy="36576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BBF24"/>
                </a:solidFill>
                <a:latin typeface="Segoe UI Semibold"/>
              </a:rPr>
              <a:t>①  TypeSafe API  (sign-up)</a:t>
            </a:r>
          </a:p>
        </p:txBody>
      </p:sp>
      <p:sp>
        <p:nvSpPr>
          <p:cNvPr id="8" name="TextBox 7"/>
          <p:cNvSpPr txBox="1"/>
          <p:nvPr/>
        </p:nvSpPr>
        <p:spPr>
          <a:xfrm>
            <a:off x="621792" y="2148840"/>
            <a:ext cx="3337560" cy="1920240"/>
          </a:xfrm>
          <a:prstGeom prst="rect">
            <a:avLst/>
          </a:prstGeom>
          <a:noFill/>
        </p:spPr>
        <p:txBody>
          <a:bodyPr wrap="square" anchor="t" lIns="36576" rIns="36576" tIns="36576" bIns="36576">
            <a:spAutoFit/>
          </a:bodyPr>
          <a:lstStyle/>
          <a:p>
            <a:pPr algn="l">
              <a:lnSpc>
                <a:spcPct val="100000"/>
              </a:lnSpc>
              <a:spcAft>
                <a:spcPts val="500"/>
              </a:spcAft>
            </a:pPr>
            <a:r>
              <a:rPr sz="1050" b="0" i="0">
                <a:solidFill>
                  <a:srgbClr val="FBBF24"/>
                </a:solidFill>
                <a:latin typeface="Segoe UI"/>
              </a:rPr>
              <a:t>•  </a:t>
            </a:r>
            <a:r>
              <a:rPr sz="1050" b="0" i="0">
                <a:solidFill>
                  <a:srgbClr val="F5F6FA"/>
                </a:solidFill>
                <a:latin typeface="Segoe UI"/>
              </a:rPr>
              <a:t>Apply for the preview at typesafe.ai, then create an API key (comes with free credit).</a:t>
            </a:r>
          </a:p>
          <a:p>
            <a:pPr algn="l">
              <a:lnSpc>
                <a:spcPct val="100000"/>
              </a:lnSpc>
              <a:spcAft>
                <a:spcPts val="500"/>
              </a:spcAft>
            </a:pPr>
            <a:r>
              <a:rPr sz="1050" b="0" i="0">
                <a:solidFill>
                  <a:srgbClr val="FBBF24"/>
                </a:solidFill>
                <a:latin typeface="Segoe UI"/>
              </a:rPr>
              <a:t>•  </a:t>
            </a:r>
            <a:r>
              <a:rPr sz="1050" b="0" i="0">
                <a:solidFill>
                  <a:srgbClr val="F5F6FA"/>
                </a:solidFill>
                <a:latin typeface="Segoe UI"/>
              </a:rPr>
              <a:t>POST api.typesafe.ai/v1/systemone, model “jev-latest”; SDKs and langchain-typesafe.</a:t>
            </a:r>
          </a:p>
          <a:p>
            <a:pPr algn="l">
              <a:lnSpc>
                <a:spcPct val="100000"/>
              </a:lnSpc>
              <a:spcAft>
                <a:spcPts val="500"/>
              </a:spcAft>
            </a:pPr>
            <a:r>
              <a:rPr sz="1050" b="0" i="0">
                <a:solidFill>
                  <a:srgbClr val="FBBF24"/>
                </a:solidFill>
                <a:latin typeface="Segoe UI"/>
              </a:rPr>
              <a:t>•  </a:t>
            </a:r>
            <a:r>
              <a:rPr sz="1050" b="0" i="0">
                <a:solidFill>
                  <a:srgbClr val="F5F6FA"/>
                </a:solidFill>
                <a:latin typeface="Segoe UI"/>
              </a:rPr>
              <a:t>$0.042 per 1M input tokens, output free · 250k tokens/s, 1,200 requests/min.</a:t>
            </a:r>
          </a:p>
          <a:p>
            <a:pPr algn="l">
              <a:lnSpc>
                <a:spcPct val="100000"/>
              </a:lnSpc>
              <a:spcAft>
                <a:spcPts val="500"/>
              </a:spcAft>
            </a:pPr>
            <a:r>
              <a:rPr sz="1050" b="0" i="0">
                <a:solidFill>
                  <a:srgbClr val="FBBF24"/>
                </a:solidFill>
                <a:latin typeface="Segoe UI"/>
              </a:rPr>
              <a:t>•  </a:t>
            </a:r>
            <a:r>
              <a:rPr sz="1050" b="0" i="0">
                <a:solidFill>
                  <a:srgbClr val="F5F6FA"/>
                </a:solidFill>
                <a:latin typeface="Segoe UI"/>
              </a:rPr>
              <a:t>Our samples: set JEV_BASE_URL + JEV_API_KEY.</a:t>
            </a:r>
          </a:p>
        </p:txBody>
      </p:sp>
      <p:sp>
        <p:nvSpPr>
          <p:cNvPr id="9" name="TextBox 8">
            <a:hlinkClick r:id="rId2"/>
          </p:cNvPr>
          <p:cNvSpPr txBox="1"/>
          <p:nvPr/>
        </p:nvSpPr>
        <p:spPr>
          <a:xfrm>
            <a:off x="621792" y="4069079"/>
            <a:ext cx="3337560" cy="292608"/>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FBBF24"/>
                </a:solidFill>
                <a:latin typeface="Segoe UI Semibold"/>
              </a:rPr>
              <a:t>docs.typesafe.ai</a:t>
            </a:r>
          </a:p>
        </p:txBody>
      </p:sp>
      <p:sp>
        <p:nvSpPr>
          <p:cNvPr id="10" name="Rounded Rectangle 9"/>
          <p:cNvSpPr/>
          <p:nvPr/>
        </p:nvSpPr>
        <p:spPr>
          <a:xfrm>
            <a:off x="4288536" y="1600200"/>
            <a:ext cx="3611880" cy="283464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88536" y="1600200"/>
            <a:ext cx="361188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53128" y="1746504"/>
            <a:ext cx="3337560" cy="36576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22D3EE"/>
                </a:solidFill>
                <a:latin typeface="Segoe UI Semibold"/>
              </a:rPr>
              <a:t>②  Microsoft Foundry agent</a:t>
            </a:r>
          </a:p>
        </p:txBody>
      </p:sp>
      <p:sp>
        <p:nvSpPr>
          <p:cNvPr id="13" name="TextBox 12"/>
          <p:cNvSpPr txBox="1"/>
          <p:nvPr/>
        </p:nvSpPr>
        <p:spPr>
          <a:xfrm>
            <a:off x="4453128" y="2148840"/>
            <a:ext cx="3337560" cy="1920240"/>
          </a:xfrm>
          <a:prstGeom prst="rect">
            <a:avLst/>
          </a:prstGeom>
          <a:noFill/>
        </p:spPr>
        <p:txBody>
          <a:bodyPr wrap="square" anchor="t" lIns="36576" rIns="36576" tIns="36576" bIns="36576">
            <a:spAutoFit/>
          </a:bodyPr>
          <a:lstStyle/>
          <a:p>
            <a:pPr algn="l">
              <a:lnSpc>
                <a:spcPct val="100000"/>
              </a:lnSpc>
              <a:spcAft>
                <a:spcPts val="500"/>
              </a:spcAft>
            </a:pPr>
            <a:r>
              <a:rPr sz="1050" b="0" i="0">
                <a:solidFill>
                  <a:srgbClr val="22D3EE"/>
                </a:solidFill>
                <a:latin typeface="Segoe UI"/>
              </a:rPr>
              <a:t>•  </a:t>
            </a:r>
            <a:r>
              <a:rPr sz="1050" b="0" i="0">
                <a:solidFill>
                  <a:srgbClr val="F5F6FA"/>
                </a:solidFill>
                <a:latin typeface="Segoe UI"/>
              </a:rPr>
              <a:t>Not in the Foundry model catalog - you bring your own TypeSafe key.</a:t>
            </a:r>
          </a:p>
          <a:p>
            <a:pPr algn="l">
              <a:lnSpc>
                <a:spcPct val="100000"/>
              </a:lnSpc>
              <a:spcAft>
                <a:spcPts val="500"/>
              </a:spcAft>
            </a:pPr>
            <a:r>
              <a:rPr sz="1050" b="0" i="0">
                <a:solidFill>
                  <a:srgbClr val="22D3EE"/>
                </a:solidFill>
                <a:latin typeface="Segoe UI"/>
              </a:rPr>
              <a:t>•  </a:t>
            </a:r>
            <a:r>
              <a:rPr sz="1050" b="0" i="0">
                <a:solidFill>
                  <a:srgbClr val="F5F6FA"/>
                </a:solidFill>
                <a:latin typeface="Segoe UI"/>
              </a:rPr>
              <a:t>Add an OpenAPI tool “evaluate_with_jev” (POST /v1/systemone) with a “Bearer &lt;key&gt;” connection.</a:t>
            </a:r>
          </a:p>
          <a:p>
            <a:pPr algn="l">
              <a:lnSpc>
                <a:spcPct val="100000"/>
              </a:lnSpc>
              <a:spcAft>
                <a:spcPts val="500"/>
              </a:spcAft>
            </a:pPr>
            <a:r>
              <a:rPr sz="1050" b="0" i="0">
                <a:solidFill>
                  <a:srgbClr val="22D3EE"/>
                </a:solidFill>
                <a:latin typeface="Segoe UI"/>
              </a:rPr>
              <a:t>•  </a:t>
            </a:r>
            <a:r>
              <a:rPr sz="1050" b="0" i="0">
                <a:solidFill>
                  <a:srgbClr val="F5F6FA"/>
                </a:solidFill>
                <a:latin typeface="Segoe UI"/>
              </a:rPr>
              <a:t>Agent instructions: always call Jev, use its values, never classify on its own.</a:t>
            </a:r>
          </a:p>
          <a:p>
            <a:pPr algn="l">
              <a:lnSpc>
                <a:spcPct val="100000"/>
              </a:lnSpc>
              <a:spcAft>
                <a:spcPts val="500"/>
              </a:spcAft>
            </a:pPr>
            <a:r>
              <a:rPr sz="1050" b="0" i="0">
                <a:solidFill>
                  <a:srgbClr val="22D3EE"/>
                </a:solidFill>
                <a:latin typeface="Segoe UI"/>
              </a:rPr>
              <a:t>•  </a:t>
            </a:r>
            <a:r>
              <a:rPr sz="1050" b="0" i="0">
                <a:solidFill>
                  <a:srgbClr val="F5F6FA"/>
                </a:solidFill>
                <a:latin typeface="Segoe UI"/>
              </a:rPr>
              <a:t>“The room had no water and a towel was dirty” → billing 0.02 · tone frustrated (.74) · urgency 1.81 → handle today.</a:t>
            </a:r>
          </a:p>
        </p:txBody>
      </p:sp>
      <p:sp>
        <p:nvSpPr>
          <p:cNvPr id="14" name="TextBox 13">
            <a:hlinkClick r:id="rId3"/>
          </p:cNvPr>
          <p:cNvSpPr txBox="1"/>
          <p:nvPr/>
        </p:nvSpPr>
        <p:spPr>
          <a:xfrm>
            <a:off x="4453128" y="4069079"/>
            <a:ext cx="3337560" cy="292608"/>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22D3EE"/>
                </a:solidFill>
                <a:latin typeface="Segoe UI Semibold"/>
              </a:rPr>
              <a:t>Microsoft Tech Community article</a:t>
            </a:r>
          </a:p>
        </p:txBody>
      </p:sp>
      <p:sp>
        <p:nvSpPr>
          <p:cNvPr id="15" name="Rounded Rectangle 14"/>
          <p:cNvSpPr/>
          <p:nvPr/>
        </p:nvSpPr>
        <p:spPr>
          <a:xfrm>
            <a:off x="8119872" y="1600200"/>
            <a:ext cx="3611880" cy="283464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19872" y="1600200"/>
            <a:ext cx="3611880" cy="640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84464" y="1746504"/>
            <a:ext cx="3337560" cy="36576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34D399"/>
                </a:solidFill>
                <a:latin typeface="Segoe UI Semibold"/>
              </a:rPr>
              <a:t>③  Open-source Laya  (no sign-up)</a:t>
            </a:r>
          </a:p>
        </p:txBody>
      </p:sp>
      <p:sp>
        <p:nvSpPr>
          <p:cNvPr id="18" name="TextBox 17"/>
          <p:cNvSpPr txBox="1"/>
          <p:nvPr/>
        </p:nvSpPr>
        <p:spPr>
          <a:xfrm>
            <a:off x="8284464" y="2148840"/>
            <a:ext cx="3337560" cy="1920240"/>
          </a:xfrm>
          <a:prstGeom prst="rect">
            <a:avLst/>
          </a:prstGeom>
          <a:noFill/>
        </p:spPr>
        <p:txBody>
          <a:bodyPr wrap="square" anchor="t" lIns="36576" rIns="36576" tIns="36576" bIns="36576">
            <a:spAutoFit/>
          </a:bodyPr>
          <a:lstStyle/>
          <a:p>
            <a:pPr algn="l">
              <a:lnSpc>
                <a:spcPct val="100000"/>
              </a:lnSpc>
              <a:spcAft>
                <a:spcPts val="500"/>
              </a:spcAft>
            </a:pPr>
            <a:r>
              <a:rPr sz="1050" b="0" i="0">
                <a:solidFill>
                  <a:srgbClr val="34D399"/>
                </a:solidFill>
                <a:latin typeface="Segoe UI"/>
              </a:rPr>
              <a:t>•  </a:t>
            </a:r>
            <a:r>
              <a:rPr sz="1050" b="0" i="0">
                <a:solidFill>
                  <a:srgbClr val="F5F6FA"/>
                </a:solidFill>
                <a:latin typeface="Segoe UI"/>
              </a:rPr>
              <a:t>Apache-2.0, 421M params, runs on a laptop CPU (~0.3 s per question; ~33 ms on a T4 GPU).</a:t>
            </a:r>
          </a:p>
          <a:p>
            <a:pPr algn="l">
              <a:lnSpc>
                <a:spcPct val="100000"/>
              </a:lnSpc>
              <a:spcAft>
                <a:spcPts val="500"/>
              </a:spcAft>
            </a:pPr>
            <a:r>
              <a:rPr sz="1050" b="0" i="0">
                <a:solidFill>
                  <a:srgbClr val="34D399"/>
                </a:solidFill>
                <a:latin typeface="Segoe UI"/>
              </a:rPr>
              <a:t>•  </a:t>
            </a:r>
            <a:r>
              <a:rPr sz="1050" b="0" i="0">
                <a:solidFill>
                  <a:srgbClr val="F5F6FA"/>
                </a:solidFill>
                <a:latin typeface="Segoe UI"/>
              </a:rPr>
              <a:t>Same state + questions → typed answers; laya-serve exposes /v1/systemone.</a:t>
            </a:r>
          </a:p>
          <a:p>
            <a:pPr algn="l">
              <a:lnSpc>
                <a:spcPct val="100000"/>
              </a:lnSpc>
              <a:spcAft>
                <a:spcPts val="500"/>
              </a:spcAft>
            </a:pPr>
            <a:r>
              <a:rPr sz="1050" b="0" i="0">
                <a:solidFill>
                  <a:srgbClr val="34D399"/>
                </a:solidFill>
                <a:latin typeface="Segoe UI"/>
              </a:rPr>
              <a:t>•  </a:t>
            </a:r>
            <a:r>
              <a:rPr sz="1050" b="0" i="0">
                <a:solidFill>
                  <a:srgbClr val="F5F6FA"/>
                </a:solidFill>
                <a:latin typeface="Segoe UI"/>
              </a:rPr>
              <a:t>Zero-shot quality is lower than Jev: test wording, fine-tune for production.</a:t>
            </a:r>
          </a:p>
          <a:p>
            <a:pPr algn="l">
              <a:lnSpc>
                <a:spcPct val="100000"/>
              </a:lnSpc>
              <a:spcAft>
                <a:spcPts val="500"/>
              </a:spcAft>
            </a:pPr>
            <a:r>
              <a:rPr sz="1050" b="0" i="0">
                <a:solidFill>
                  <a:srgbClr val="34D399"/>
                </a:solidFill>
                <a:latin typeface="Segoe UI"/>
              </a:rPr>
              <a:t>•  </a:t>
            </a:r>
            <a:r>
              <a:rPr sz="1050" b="0" i="0">
                <a:solidFill>
                  <a:srgbClr val="F5F6FA"/>
                </a:solidFill>
                <a:latin typeface="Segoe UI"/>
              </a:rPr>
              <a:t>Powers all our samples and UI demos.</a:t>
            </a:r>
          </a:p>
        </p:txBody>
      </p:sp>
      <p:sp>
        <p:nvSpPr>
          <p:cNvPr id="19" name="TextBox 18">
            <a:hlinkClick r:id="rId4"/>
          </p:cNvPr>
          <p:cNvSpPr txBox="1"/>
          <p:nvPr/>
        </p:nvSpPr>
        <p:spPr>
          <a:xfrm>
            <a:off x="8284464" y="4069079"/>
            <a:ext cx="3337560" cy="292608"/>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34D399"/>
                </a:solidFill>
                <a:latin typeface="Segoe UI Semibold"/>
              </a:rPr>
              <a:t>huggingface.co/convaiinnovations/laya</a:t>
            </a:r>
          </a:p>
        </p:txBody>
      </p:sp>
      <p:sp>
        <p:nvSpPr>
          <p:cNvPr id="20" name="Rounded Rectangle 19"/>
          <p:cNvSpPr/>
          <p:nvPr/>
        </p:nvSpPr>
        <p:spPr>
          <a:xfrm>
            <a:off x="457200" y="4617720"/>
            <a:ext cx="6812280" cy="1874519"/>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1792" y="4690872"/>
            <a:ext cx="6583680" cy="27432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F5F6FA"/>
                </a:solidFill>
                <a:latin typeface="Segoe UI Semibold"/>
              </a:rPr>
              <a:t>Pattern from the Foundry article: </a:t>
            </a:r>
            <a:r>
              <a:rPr sz="1200" b="0" i="0">
                <a:solidFill>
                  <a:srgbClr val="A3A9BC"/>
                </a:solidFill>
                <a:latin typeface="Segoe UI"/>
              </a:rPr>
              <a:t>Jev as a judgement layer</a:t>
            </a:r>
          </a:p>
        </p:txBody>
      </p:sp>
      <p:sp>
        <p:nvSpPr>
          <p:cNvPr id="22" name="Pentagon 21"/>
          <p:cNvSpPr/>
          <p:nvPr/>
        </p:nvSpPr>
        <p:spPr>
          <a:xfrm>
            <a:off x="621792" y="5074920"/>
            <a:ext cx="1417320" cy="640080"/>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950" b="0" i="0">
                <a:solidFill>
                  <a:srgbClr val="F5F6FA"/>
                </a:solidFill>
                <a:latin typeface="Segoe UI"/>
              </a:rPr>
              <a:t>User / app</a:t>
            </a:r>
          </a:p>
        </p:txBody>
      </p:sp>
      <p:sp>
        <p:nvSpPr>
          <p:cNvPr id="23" name="Chevron 22"/>
          <p:cNvSpPr/>
          <p:nvPr/>
        </p:nvSpPr>
        <p:spPr>
          <a:xfrm>
            <a:off x="1920240" y="5074920"/>
            <a:ext cx="1417320" cy="64008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950" b="0" i="0">
                <a:solidFill>
                  <a:srgbClr val="F5F6FA"/>
                </a:solidFill>
                <a:latin typeface="Segoe UI"/>
              </a:rPr>
              <a:t>Foundry agent
or model</a:t>
            </a:r>
          </a:p>
        </p:txBody>
      </p:sp>
      <p:sp>
        <p:nvSpPr>
          <p:cNvPr id="24" name="Chevron 23"/>
          <p:cNvSpPr/>
          <p:nvPr/>
        </p:nvSpPr>
        <p:spPr>
          <a:xfrm>
            <a:off x="3218688" y="5074920"/>
            <a:ext cx="1417320" cy="640080"/>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950" b="0" i="0">
                <a:solidFill>
                  <a:srgbClr val="0F1117"/>
                </a:solidFill>
                <a:latin typeface="Segoe UI Semibold"/>
              </a:rPr>
              <a:t>Jev judgement</a:t>
            </a:r>
          </a:p>
        </p:txBody>
      </p:sp>
      <p:sp>
        <p:nvSpPr>
          <p:cNvPr id="25" name="Chevron 24"/>
          <p:cNvSpPr/>
          <p:nvPr/>
        </p:nvSpPr>
        <p:spPr>
          <a:xfrm>
            <a:off x="4517136" y="5074920"/>
            <a:ext cx="1417320" cy="64008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950" b="0" i="0">
                <a:solidFill>
                  <a:srgbClr val="F5F6FA"/>
                </a:solidFill>
                <a:latin typeface="Segoe UI"/>
              </a:rPr>
              <a:t>Business rules
(code)</a:t>
            </a:r>
          </a:p>
        </p:txBody>
      </p:sp>
      <p:sp>
        <p:nvSpPr>
          <p:cNvPr id="26" name="Chevron 25"/>
          <p:cNvSpPr/>
          <p:nvPr/>
        </p:nvSpPr>
        <p:spPr>
          <a:xfrm>
            <a:off x="5815583" y="5074920"/>
            <a:ext cx="1417320" cy="64008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950" b="0" i="0">
                <a:solidFill>
                  <a:srgbClr val="F5F6FA"/>
                </a:solidFill>
                <a:latin typeface="Segoe UI"/>
              </a:rPr>
              <a:t>Action /
response</a:t>
            </a:r>
          </a:p>
        </p:txBody>
      </p:sp>
      <p:sp>
        <p:nvSpPr>
          <p:cNvPr id="27" name="TextBox 26"/>
          <p:cNvSpPr txBox="1"/>
          <p:nvPr/>
        </p:nvSpPr>
        <p:spPr>
          <a:xfrm>
            <a:off x="621792" y="5806440"/>
            <a:ext cx="6537960" cy="685800"/>
          </a:xfrm>
          <a:prstGeom prst="rect">
            <a:avLst/>
          </a:prstGeom>
          <a:noFill/>
        </p:spPr>
        <p:txBody>
          <a:bodyPr wrap="square" anchor="t" lIns="36576" rIns="36576" tIns="36576" bIns="36576">
            <a:spAutoFit/>
          </a:bodyPr>
          <a:lstStyle/>
          <a:p>
            <a:pPr algn="l">
              <a:lnSpc>
                <a:spcPct val="100000"/>
              </a:lnSpc>
              <a:spcAft>
                <a:spcPts val="0"/>
              </a:spcAft>
            </a:pPr>
            <a:r>
              <a:rPr sz="1050" b="0" i="0">
                <a:solidFill>
                  <a:srgbClr val="F5F6FA"/>
                </a:solidFill>
                <a:latin typeface="Segoe UI Semibold"/>
              </a:rPr>
              <a:t>Explainability for Model-as-a-Service: </a:t>
            </a:r>
            <a:r>
              <a:rPr sz="1050" b="0" i="0">
                <a:solidFill>
                  <a:srgbClr val="A3A9BC"/>
                </a:solidFill>
                <a:latin typeface="Segoe UI"/>
              </a:rPr>
              <a:t>not SHAP-style feature attribution, but a measurable layer that checks an opaque hosted LLM's inputs, outputs and proposed actions against explicit criteria - with a confidence to gate on.</a:t>
            </a:r>
          </a:p>
        </p:txBody>
      </p:sp>
      <p:sp>
        <p:nvSpPr>
          <p:cNvPr id="28" name="Rounded Rectangle 27"/>
          <p:cNvSpPr/>
          <p:nvPr/>
        </p:nvSpPr>
        <p:spPr>
          <a:xfrm>
            <a:off x="7452360" y="4617720"/>
            <a:ext cx="4279392" cy="1874519"/>
          </a:xfrm>
          <a:prstGeom prst="roundRect">
            <a:avLst>
              <a:gd name="adj" fmla="val 6000"/>
            </a:avLst>
          </a:prstGeom>
          <a:solidFill>
            <a:srgbClr val="1A1D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a:hlinkClick r:id="rId5"/>
          </p:cNvPr>
          <p:cNvSpPr txBox="1"/>
          <p:nvPr/>
        </p:nvSpPr>
        <p:spPr>
          <a:xfrm>
            <a:off x="7589520" y="4681728"/>
            <a:ext cx="4023360" cy="292608"/>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A3A9BC"/>
                </a:solidFill>
                <a:latin typeface="Segoe UI"/>
              </a:rPr>
              <a:t>Run our samples:  </a:t>
            </a:r>
            <a:r>
              <a:rPr sz="1150" b="0" i="0" u="sng">
                <a:solidFill>
                  <a:srgbClr val="34D399"/>
                </a:solidFill>
                <a:latin typeface="Segoe UI Semibold"/>
              </a:rPr>
              <a:t>github.com/stvonolf/jev-samples</a:t>
            </a:r>
          </a:p>
        </p:txBody>
      </p:sp>
      <p:sp>
        <p:nvSpPr>
          <p:cNvPr id="30" name="TextBox 29"/>
          <p:cNvSpPr txBox="1"/>
          <p:nvPr/>
        </p:nvSpPr>
        <p:spPr>
          <a:xfrm>
            <a:off x="7589520" y="5029200"/>
            <a:ext cx="4069080" cy="1463040"/>
          </a:xfrm>
          <a:prstGeom prst="rect">
            <a:avLst/>
          </a:prstGeom>
          <a:noFill/>
        </p:spPr>
        <p:txBody>
          <a:bodyPr wrap="square" anchor="t" lIns="36576" rIns="36576" tIns="36576" bIns="36576">
            <a:spAutoFit/>
          </a:bodyPr>
          <a:lstStyle/>
          <a:p>
            <a:pPr algn="l">
              <a:lnSpc>
                <a:spcPct val="110000"/>
              </a:lnSpc>
              <a:spcAft>
                <a:spcPts val="0"/>
              </a:spcAft>
            </a:pPr>
            <a:r>
              <a:rPr sz="900" b="0" i="0">
                <a:solidFill>
                  <a:srgbClr val="F5F6FA"/>
                </a:solidFill>
                <a:latin typeface="Consolas"/>
              </a:rPr>
              <a:t>git clone https://github.com/stvonolf/jev-samples</a:t>
            </a:r>
          </a:p>
          <a:p>
            <a:pPr algn="l">
              <a:lnSpc>
                <a:spcPct val="110000"/>
              </a:lnSpc>
              <a:spcAft>
                <a:spcPts val="0"/>
              </a:spcAft>
            </a:pPr>
            <a:r>
              <a:rPr sz="900" b="0" i="0">
                <a:solidFill>
                  <a:srgbClr val="F5F6FA"/>
                </a:solidFill>
                <a:latin typeface="Consolas"/>
              </a:rPr>
              <a:t>cd jev-samples</a:t>
            </a:r>
          </a:p>
          <a:p>
            <a:pPr algn="l">
              <a:lnSpc>
                <a:spcPct val="110000"/>
              </a:lnSpc>
              <a:spcAft>
                <a:spcPts val="0"/>
              </a:spcAft>
            </a:pPr>
            <a:r>
              <a:rPr sz="900" b="0" i="0">
                <a:solidFill>
                  <a:srgbClr val="F5F6FA"/>
                </a:solidFill>
                <a:latin typeface="Consolas"/>
              </a:rPr>
              <a:t>python -m venv .venv</a:t>
            </a:r>
          </a:p>
          <a:p>
            <a:pPr algn="l">
              <a:lnSpc>
                <a:spcPct val="110000"/>
              </a:lnSpc>
              <a:spcAft>
                <a:spcPts val="0"/>
              </a:spcAft>
            </a:pPr>
            <a:r>
              <a:rPr sz="900" b="0" i="0">
                <a:solidFill>
                  <a:srgbClr val="F5F6FA"/>
                </a:solidFill>
                <a:latin typeface="Consolas"/>
              </a:rPr>
              <a:t>.venv\Scripts\pip install -r samples\requirements.txt</a:t>
            </a:r>
          </a:p>
          <a:p>
            <a:pPr algn="l">
              <a:lnSpc>
                <a:spcPct val="110000"/>
              </a:lnSpc>
              <a:spcAft>
                <a:spcPts val="0"/>
              </a:spcAft>
            </a:pPr>
            <a:r>
              <a:rPr sz="900" b="0" i="0">
                <a:solidFill>
                  <a:srgbClr val="F5F6FA"/>
                </a:solidFill>
                <a:latin typeface="Consolas"/>
              </a:rPr>
              <a:t>cd samples</a:t>
            </a:r>
          </a:p>
          <a:p>
            <a:pPr algn="l">
              <a:lnSpc>
                <a:spcPct val="110000"/>
              </a:lnSpc>
              <a:spcAft>
                <a:spcPts val="0"/>
              </a:spcAft>
            </a:pPr>
            <a:r>
              <a:rPr sz="900" b="0" i="0">
                <a:solidFill>
                  <a:srgbClr val="F5F6FA"/>
                </a:solidFill>
                <a:latin typeface="Consolas"/>
              </a:rPr>
              <a:t>..\.venv\Scripts\python 01_lead_scoring.py</a:t>
            </a:r>
          </a:p>
          <a:p>
            <a:pPr algn="l">
              <a:lnSpc>
                <a:spcPct val="110000"/>
              </a:lnSpc>
              <a:spcAft>
                <a:spcPts val="0"/>
              </a:spcAft>
            </a:pPr>
            <a:r>
              <a:rPr sz="900" b="0" i="0">
                <a:solidFill>
                  <a:srgbClr val="F5F6FA"/>
                </a:solidFill>
                <a:latin typeface="Consolas"/>
              </a:rPr>
              <a:t>..\.venv\Scripts\python 07_ui_demos.py   # UI demos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HANDS-ON  ·  5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We built it: 7 samples running locally on Laya</a:t>
            </a:r>
          </a:p>
        </p:txBody>
      </p:sp>
      <p:sp>
        <p:nvSpPr>
          <p:cNvPr id="4" name="TextBox 3"/>
          <p:cNvSpPr txBox="1"/>
          <p:nvPr/>
        </p:nvSpPr>
        <p:spPr>
          <a:xfrm>
            <a:off x="457200" y="1115568"/>
            <a:ext cx="71323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Laya: open-source (Apache-2.0), Jev-compatible, 421M params. Runs on a laptop CPU.</a:t>
            </a:r>
          </a:p>
        </p:txBody>
      </p:sp>
      <p:sp>
        <p:nvSpPr>
          <p:cNvPr id="5" name="TextBox 4">
            <a:hlinkClick r:id="rId2"/>
          </p:cNvPr>
          <p:cNvSpPr txBox="1"/>
          <p:nvPr/>
        </p:nvSpPr>
        <p:spPr>
          <a:xfrm>
            <a:off x="7726679" y="1143000"/>
            <a:ext cx="4023360" cy="292608"/>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Code:  </a:t>
            </a:r>
            <a:r>
              <a:rPr sz="1300" b="0" i="0" u="sng">
                <a:solidFill>
                  <a:srgbClr val="22D3EE"/>
                </a:solidFill>
                <a:latin typeface="Segoe UI Semibold"/>
              </a:rPr>
              <a:t>github.com/stvonolf/jev-samples</a:t>
            </a:r>
          </a:p>
        </p:txBody>
      </p:sp>
      <p:graphicFrame>
        <p:nvGraphicFramePr>
          <p:cNvPr id="6" name="Table 5"/>
          <p:cNvGraphicFramePr>
            <a:graphicFrameLocks noGrp="1"/>
          </p:cNvGraphicFramePr>
          <p:nvPr/>
        </p:nvGraphicFramePr>
        <p:xfrm>
          <a:off x="457200" y="1600200"/>
          <a:ext cx="7040880" cy="3218688"/>
        </p:xfrm>
        <a:graphic>
          <a:graphicData uri="http://schemas.openxmlformats.org/drawingml/2006/table">
            <a:tbl>
              <a:tblPr firstRow="1">
                <a:tableStyleId>{2D5ABB26-0587-4C30-8999-92F81FD0307C}</a:tableStyleId>
              </a:tblPr>
              <a:tblGrid>
                <a:gridCol w="384048"/>
                <a:gridCol w="1691640"/>
                <a:gridCol w="1554480"/>
                <a:gridCol w="3410712"/>
              </a:tblGrid>
              <a:tr h="402336">
                <a:tc>
                  <a:txBody>
                    <a:bodyPr wrap="square"/>
                    <a:lstStyle/>
                    <a:p>
                      <a:r>
                        <a:rPr sz="950" b="0" i="0">
                          <a:solidFill>
                            <a:srgbClr val="A3A9BC"/>
                          </a:solidFill>
                          <a:latin typeface="Segoe UI Semibold"/>
                        </a:rPr>
                        <a:t>#</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c>
                  <a:txBody>
                    <a:bodyPr wrap="square"/>
                    <a:lstStyle/>
                    <a:p>
                      <a:r>
                        <a:rPr sz="950" b="0" i="0">
                          <a:solidFill>
                            <a:srgbClr val="A3A9BC"/>
                          </a:solidFill>
                          <a:latin typeface="Segoe UI Semibold"/>
                        </a:rPr>
                        <a:t>Sample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c>
                  <a:txBody>
                    <a:bodyPr wrap="square"/>
                    <a:lstStyle/>
                    <a:p>
                      <a:r>
                        <a:rPr sz="950" b="0" i="0">
                          <a:solidFill>
                            <a:srgbClr val="A3A9BC"/>
                          </a:solidFill>
                          <a:latin typeface="Segoe UI Semibold"/>
                        </a:rPr>
                        <a:t>Primitives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c>
                  <a:txBody>
                    <a:bodyPr wrap="square"/>
                    <a:lstStyle/>
                    <a:p>
                      <a:r>
                        <a:rPr sz="950" b="0" i="0">
                          <a:solidFill>
                            <a:srgbClr val="A3A9BC"/>
                          </a:solidFill>
                          <a:latin typeface="Segoe UI Semibold"/>
                        </a:rPr>
                        <a:t>What happened on our laptop</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r>
              <a:tr h="402336">
                <a:tc>
                  <a:txBody>
                    <a:bodyPr wrap="square"/>
                    <a:lstStyle/>
                    <a:p>
                      <a:r>
                        <a:rPr sz="1050" b="0" i="0">
                          <a:solidFill>
                            <a:srgbClr val="A3A9BC"/>
                          </a:solidFill>
                          <a:latin typeface="Segoe UI Semibold"/>
                        </a:rPr>
                        <a:t>01</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F5F6FA"/>
                          </a:solidFill>
                          <a:latin typeface="Segoe UI Semibold"/>
                        </a:rPr>
                        <a:t>Lead scoring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E040FB"/>
                          </a:solidFill>
                          <a:latin typeface="Segoe UI Semibold"/>
                        </a:rPr>
                        <a:t>Choice + Score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A3A9BC"/>
                          </a:solidFill>
                          <a:latin typeface="Segoe UI"/>
                        </a:rPr>
                        <a:t>VP with budget → 86/100, enterprise AE; student &amp; agency dropped; possible competitor → human check</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402336">
                <a:tc>
                  <a:txBody>
                    <a:bodyPr wrap="square"/>
                    <a:lstStyle/>
                    <a:p>
                      <a:r>
                        <a:rPr sz="1050" b="0" i="0">
                          <a:solidFill>
                            <a:srgbClr val="A3A9BC"/>
                          </a:solidFill>
                          <a:latin typeface="Segoe UI Semibold"/>
                        </a:rPr>
                        <a:t>02</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F5F6FA"/>
                          </a:solidFill>
                          <a:latin typeface="Segoe UI Semibold"/>
                        </a:rPr>
                        <a:t>Reply triage (EN/DE/CZ)</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E040FB"/>
                          </a:solidFill>
                          <a:latin typeface="Segoe UI Semibold"/>
                        </a:rPr>
                        <a:t>Choice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A3A9BC"/>
                          </a:solidFill>
                          <a:latin typeface="Segoe UI"/>
                        </a:rPr>
                        <a:t>10/10 correct labels; 7 automated, 1 review, 2 escalated; opt-outs always suppressed</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402336">
                <a:tc>
                  <a:txBody>
                    <a:bodyPr wrap="square"/>
                    <a:lstStyle/>
                    <a:p>
                      <a:r>
                        <a:rPr sz="1050" b="0" i="0">
                          <a:solidFill>
                            <a:srgbClr val="A3A9BC"/>
                          </a:solidFill>
                          <a:latin typeface="Segoe UI Semibold"/>
                        </a:rPr>
                        <a:t>03</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F5F6FA"/>
                          </a:solidFill>
                          <a:latin typeface="Segoe UI Semibold"/>
                        </a:rPr>
                        <a:t>SEO internal linking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FBBF24"/>
                          </a:solidFill>
                          <a:latin typeface="Segoe UI Semibold"/>
                        </a:rPr>
                        <a:t>Noul + Choice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A3A9BC"/>
                          </a:solidFill>
                          <a:latin typeface="Segoe UI"/>
                        </a:rPr>
                        <a:t>36 page pairs → 18 links + anchor texts; party page gets none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402336">
                <a:tc>
                  <a:txBody>
                    <a:bodyPr wrap="square"/>
                    <a:lstStyle/>
                    <a:p>
                      <a:r>
                        <a:rPr sz="1050" b="0" i="0">
                          <a:solidFill>
                            <a:srgbClr val="A3A9BC"/>
                          </a:solidFill>
                          <a:latin typeface="Segoe UI Semibold"/>
                        </a:rPr>
                        <a:t>04</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F5F6FA"/>
                          </a:solidFill>
                          <a:latin typeface="Segoe UI Semibold"/>
                        </a:rPr>
                        <a:t>Social feed monitor</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FBBF24"/>
                          </a:solidFill>
                          <a:latin typeface="Segoe UI Semibold"/>
                        </a:rPr>
                        <a:t>Noul + Score + Choice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A3A9BC"/>
                          </a:solidFill>
                          <a:latin typeface="Segoe UI"/>
                        </a:rPr>
                        <a:t>3/3 slop posts hidden; complaint → support, cancellation → retention</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402336">
                <a:tc>
                  <a:txBody>
                    <a:bodyPr wrap="square"/>
                    <a:lstStyle/>
                    <a:p>
                      <a:r>
                        <a:rPr sz="1050" b="0" i="0">
                          <a:solidFill>
                            <a:srgbClr val="A3A9BC"/>
                          </a:solidFill>
                          <a:latin typeface="Segoe UI Semibold"/>
                        </a:rPr>
                        <a:t>05</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F5F6FA"/>
                          </a:solidFill>
                          <a:latin typeface="Segoe UI Semibold"/>
                        </a:rPr>
                        <a:t>Command bar</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E040FB"/>
                          </a:solidFill>
                          <a:latin typeface="Segoe UI Semibold"/>
                        </a:rPr>
                        <a:t>Choice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A3A9BC"/>
                          </a:solidFill>
                          <a:latin typeface="Segoe UI"/>
                        </a:rPr>
                        <a:t>“cut meta prospecting in half” → change_budget(…, 50%); vague → “did you mean…?”</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402336">
                <a:tc>
                  <a:txBody>
                    <a:bodyPr wrap="square"/>
                    <a:lstStyle/>
                    <a:p>
                      <a:r>
                        <a:rPr sz="1050" b="0" i="0">
                          <a:solidFill>
                            <a:srgbClr val="A3A9BC"/>
                          </a:solidFill>
                          <a:latin typeface="Segoe UI Semibold"/>
                        </a:rPr>
                        <a:t>06</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F5F6FA"/>
                          </a:solidFill>
                          <a:latin typeface="Segoe UI Semibold"/>
                        </a:rPr>
                        <a:t>Agent harness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E040FB"/>
                          </a:solidFill>
                          <a:latin typeface="Segoe UI Semibold"/>
                        </a:rPr>
                        <a:t>Choice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A3A9BC"/>
                          </a:solidFill>
                          <a:latin typeface="Segoe UI"/>
                        </a:rPr>
                        <a:t>48% LLM cost saved by routing; 6/6 tool calls gated; fake claims caught</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402336">
                <a:tc>
                  <a:txBody>
                    <a:bodyPr wrap="square"/>
                    <a:lstStyle/>
                    <a:p>
                      <a:r>
                        <a:rPr sz="1050" b="0" i="0">
                          <a:solidFill>
                            <a:srgbClr val="A3A9BC"/>
                          </a:solidFill>
                          <a:latin typeface="Segoe UI Semibold"/>
                        </a:rPr>
                        <a:t>07</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F5F6FA"/>
                          </a:solidFill>
                          <a:latin typeface="Segoe UI Semibold"/>
                        </a:rPr>
                        <a:t>UI demos (browser)</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E040FB"/>
                          </a:solidFill>
                          <a:latin typeface="Segoe UI Semibold"/>
                        </a:rPr>
                        <a:t>Choice + Score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A3A9BC"/>
                          </a:solidFill>
                          <a:latin typeface="Segoe UI"/>
                        </a:rPr>
                        <a:t>Trolley ×100, creative emoji pile, live Score gauges for customer messages → slide 6</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bl>
          </a:graphicData>
        </a:graphic>
      </p:graphicFrame>
      <p:pic>
        <p:nvPicPr>
          <p:cNvPr id="7" name="Picture 6" descr="terminal_06_agent_harness.png"/>
          <p:cNvPicPr>
            <a:picLocks noChangeAspect="1"/>
          </p:cNvPicPr>
          <p:nvPr/>
        </p:nvPicPr>
        <p:blipFill>
          <a:blip r:embed="rId3"/>
          <a:stretch>
            <a:fillRect/>
          </a:stretch>
        </p:blipFill>
        <p:spPr>
          <a:xfrm>
            <a:off x="7726679" y="1645920"/>
            <a:ext cx="4005072" cy="3111552"/>
          </a:xfrm>
          <a:prstGeom prst="rect">
            <a:avLst/>
          </a:prstGeom>
          <a:ln w="12700">
            <a:solidFill>
              <a:srgbClr val="33384A"/>
            </a:solidFill>
          </a:ln>
        </p:spPr>
      </p:pic>
      <p:sp>
        <p:nvSpPr>
          <p:cNvPr id="8" name="TextBox 7"/>
          <p:cNvSpPr txBox="1"/>
          <p:nvPr/>
        </p:nvSpPr>
        <p:spPr>
          <a:xfrm>
            <a:off x="7726679" y="4784904"/>
            <a:ext cx="4005072"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Real output of samples/06_agent_harness.py (excerpt)</a:t>
            </a:r>
          </a:p>
        </p:txBody>
      </p:sp>
      <p:sp>
        <p:nvSpPr>
          <p:cNvPr id="9" name="Rounded Rectangle 8"/>
          <p:cNvSpPr/>
          <p:nvPr/>
        </p:nvSpPr>
        <p:spPr>
          <a:xfrm>
            <a:off x="457200" y="4983480"/>
            <a:ext cx="7040880" cy="150876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 y="5047488"/>
            <a:ext cx="6766560" cy="27432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34D399"/>
                </a:solidFill>
                <a:latin typeface="Segoe UI Semibold"/>
              </a:rPr>
              <a:t>What we learned (zero-shot, no fine-tuning)</a:t>
            </a:r>
          </a:p>
        </p:txBody>
      </p:sp>
      <p:sp>
        <p:nvSpPr>
          <p:cNvPr id="11" name="TextBox 10"/>
          <p:cNvSpPr txBox="1"/>
          <p:nvPr/>
        </p:nvSpPr>
        <p:spPr>
          <a:xfrm>
            <a:off x="621792" y="5349240"/>
            <a:ext cx="6812280" cy="1143000"/>
          </a:xfrm>
          <a:prstGeom prst="rect">
            <a:avLst/>
          </a:prstGeom>
          <a:noFill/>
        </p:spPr>
        <p:txBody>
          <a:bodyPr wrap="square" anchor="t" lIns="36576" rIns="36576" tIns="36576" bIns="36576">
            <a:spAutoFit/>
          </a:bodyPr>
          <a:lstStyle/>
          <a:p>
            <a:pPr algn="l">
              <a:lnSpc>
                <a:spcPct val="105000"/>
              </a:lnSpc>
              <a:spcAft>
                <a:spcPts val="150"/>
              </a:spcAft>
            </a:pPr>
            <a:r>
              <a:rPr sz="1050" b="0" i="0">
                <a:solidFill>
                  <a:srgbClr val="34D399"/>
                </a:solidFill>
                <a:latin typeface="Segoe UI Semibold"/>
              </a:rPr>
              <a:t>▸  </a:t>
            </a:r>
            <a:r>
              <a:rPr sz="1050" b="0" i="0">
                <a:solidFill>
                  <a:srgbClr val="F5F6FA"/>
                </a:solidFill>
                <a:latin typeface="Segoe UI Semibold"/>
              </a:rPr>
              <a:t>Atomic questions win: </a:t>
            </a:r>
            <a:r>
              <a:rPr sz="1050" b="0" i="0">
                <a:solidFill>
                  <a:srgbClr val="A3A9BC"/>
                </a:solidFill>
                <a:latin typeface="Segoe UI"/>
              </a:rPr>
              <a:t>one persona Choice beat four disqualifier Nouls.</a:t>
            </a:r>
          </a:p>
          <a:p>
            <a:pPr algn="l">
              <a:lnSpc>
                <a:spcPct val="105000"/>
              </a:lnSpc>
              <a:spcAft>
                <a:spcPts val="150"/>
              </a:spcAft>
            </a:pPr>
            <a:r>
              <a:rPr sz="1050" b="0" i="0">
                <a:solidFill>
                  <a:srgbClr val="34D399"/>
                </a:solidFill>
                <a:latin typeface="Segoe UI Semibold"/>
              </a:rPr>
              <a:t>▸  </a:t>
            </a:r>
            <a:r>
              <a:rPr sz="1050" b="0" i="0">
                <a:solidFill>
                  <a:srgbClr val="F5F6FA"/>
                </a:solidFill>
                <a:latin typeface="Segoe UI Semibold"/>
              </a:rPr>
              <a:t>Data and business rules stay in code; </a:t>
            </a:r>
            <a:r>
              <a:rPr sz="1050" b="0" i="0">
                <a:solidFill>
                  <a:srgbClr val="A3A9BC"/>
                </a:solidFill>
                <a:latin typeface="Segoe UI"/>
              </a:rPr>
              <a:t>the model only judges language.</a:t>
            </a:r>
          </a:p>
          <a:p>
            <a:pPr algn="l">
              <a:lnSpc>
                <a:spcPct val="105000"/>
              </a:lnSpc>
              <a:spcAft>
                <a:spcPts val="150"/>
              </a:spcAft>
            </a:pPr>
            <a:r>
              <a:rPr sz="1050" b="0" i="0">
                <a:solidFill>
                  <a:srgbClr val="34D399"/>
                </a:solidFill>
                <a:latin typeface="Segoe UI Semibold"/>
              </a:rPr>
              <a:t>▸  </a:t>
            </a:r>
            <a:r>
              <a:rPr sz="1050" b="0" i="0">
                <a:solidFill>
                  <a:srgbClr val="F5F6FA"/>
                </a:solidFill>
                <a:latin typeface="Segoe UI Semibold"/>
              </a:rPr>
              <a:t>Wording matters: </a:t>
            </a:r>
            <a:r>
              <a:rPr sz="1050" b="0" i="0">
                <a:solidFill>
                  <a:srgbClr val="A3A9BC"/>
                </a:solidFill>
                <a:latin typeface="Segoe UI"/>
              </a:rPr>
              <a:t>test 3–5 phrasings on a small labelled set before you trust a threshold.</a:t>
            </a:r>
          </a:p>
          <a:p>
            <a:pPr algn="l">
              <a:lnSpc>
                <a:spcPct val="105000"/>
              </a:lnSpc>
              <a:spcAft>
                <a:spcPts val="150"/>
              </a:spcAft>
            </a:pPr>
            <a:r>
              <a:rPr sz="1050" b="0" i="0">
                <a:solidFill>
                  <a:srgbClr val="34D399"/>
                </a:solidFill>
                <a:latin typeface="Segoe UI Semibold"/>
              </a:rPr>
              <a:t>▸  </a:t>
            </a:r>
            <a:r>
              <a:rPr sz="1050" b="0" i="0">
                <a:solidFill>
                  <a:srgbClr val="F5F6FA"/>
                </a:solidFill>
                <a:latin typeface="Segoe UI Semibold"/>
              </a:rPr>
              <a:t>Gate on confidence, fail safe: </a:t>
            </a:r>
            <a:r>
              <a:rPr sz="1050" b="0" i="0">
                <a:solidFill>
                  <a:srgbClr val="A3A9BC"/>
                </a:solidFill>
                <a:latin typeface="Segoe UI"/>
              </a:rPr>
              <a:t>uncertain → human or “did you mean…?”. CPU ≈ 0.3 s/question, GPU ≈ 33 ms.</a:t>
            </a:r>
          </a:p>
        </p:txBody>
      </p:sp>
      <p:sp>
        <p:nvSpPr>
          <p:cNvPr id="12" name="Rounded Rectangle 11"/>
          <p:cNvSpPr/>
          <p:nvPr/>
        </p:nvSpPr>
        <p:spPr>
          <a:xfrm>
            <a:off x="7726679" y="5123232"/>
            <a:ext cx="4005072" cy="1369007"/>
          </a:xfrm>
          <a:prstGeom prst="roundRect">
            <a:avLst>
              <a:gd name="adj" fmla="val 6000"/>
            </a:avLst>
          </a:prstGeom>
          <a:solidFill>
            <a:srgbClr val="1A1D27"/>
          </a:solid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82127" y="5187240"/>
            <a:ext cx="3749039" cy="27432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22D3EE"/>
                </a:solidFill>
                <a:latin typeface="Segoe UI Semibold"/>
              </a:rPr>
              <a:t>Next steps</a:t>
            </a:r>
          </a:p>
        </p:txBody>
      </p:sp>
      <p:sp>
        <p:nvSpPr>
          <p:cNvPr id="14" name="TextBox 13"/>
          <p:cNvSpPr txBox="1"/>
          <p:nvPr/>
        </p:nvSpPr>
        <p:spPr>
          <a:xfrm>
            <a:off x="7882127" y="5488992"/>
            <a:ext cx="3749039" cy="957527"/>
          </a:xfrm>
          <a:prstGeom prst="rect">
            <a:avLst/>
          </a:prstGeom>
          <a:noFill/>
        </p:spPr>
        <p:txBody>
          <a:bodyPr wrap="square" anchor="t" lIns="36576" rIns="36576" tIns="36576" bIns="36576">
            <a:spAutoFit/>
          </a:bodyPr>
          <a:lstStyle/>
          <a:p>
            <a:pPr algn="l">
              <a:lnSpc>
                <a:spcPct val="100000"/>
              </a:lnSpc>
              <a:spcAft>
                <a:spcPts val="200"/>
              </a:spcAft>
            </a:pPr>
            <a:r>
              <a:rPr sz="1050" b="0" i="0">
                <a:solidFill>
                  <a:srgbClr val="F5F6FA"/>
                </a:solidFill>
                <a:latin typeface="Segoe UI"/>
              </a:rPr>
              <a:t>1. Pick one pilot: reply triage or lead scoring</a:t>
            </a:r>
          </a:p>
          <a:p>
            <a:pPr algn="l">
              <a:lnSpc>
                <a:spcPct val="100000"/>
              </a:lnSpc>
              <a:spcAft>
                <a:spcPts val="200"/>
              </a:spcAft>
            </a:pPr>
            <a:r>
              <a:rPr sz="1050" b="0" i="0">
                <a:solidFill>
                  <a:srgbClr val="F5F6FA"/>
                </a:solidFill>
                <a:latin typeface="Segoe UI"/>
              </a:rPr>
              <a:t>2. Label 300–500 real examples, set thresholds</a:t>
            </a:r>
          </a:p>
          <a:p>
            <a:pPr algn="l">
              <a:lnSpc>
                <a:spcPct val="100000"/>
              </a:lnSpc>
              <a:spcAft>
                <a:spcPts val="200"/>
              </a:spcAft>
            </a:pPr>
            <a:r>
              <a:rPr sz="1050" b="0" i="0">
                <a:solidFill>
                  <a:srgbClr val="F5F6FA"/>
                </a:solidFill>
                <a:latin typeface="Segoe UI"/>
              </a:rPr>
              <a:t>3. Compare Laya (fine-tuned) vs Jev API on it</a:t>
            </a:r>
          </a:p>
          <a:p>
            <a:pPr algn="l">
              <a:lnSpc>
                <a:spcPct val="100000"/>
              </a:lnSpc>
              <a:spcAft>
                <a:spcPts val="200"/>
              </a:spcAft>
            </a:pPr>
            <a:r>
              <a:rPr sz="1050" b="0" i="0">
                <a:solidFill>
                  <a:srgbClr val="F5F6FA"/>
                </a:solidFill>
                <a:latin typeface="Segoe UI"/>
              </a:rPr>
              <a:t>4. Ship behind a confidence gate + human review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LIVE DEMOS  ·  6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Three live UI demos: Choice, Noul and Score</a:t>
            </a:r>
          </a:p>
        </p:txBody>
      </p:sp>
      <p:sp>
        <p:nvSpPr>
          <p:cNvPr id="4" name="TextBox 3">
            <a:hlinkClick r:id="rId2"/>
          </p:cNvPr>
          <p:cNvSpPr txBox="1"/>
          <p:nvPr/>
        </p:nvSpPr>
        <p:spPr>
          <a:xfrm>
            <a:off x="457200" y="1115568"/>
            <a:ext cx="11247120" cy="292608"/>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Run:  </a:t>
            </a:r>
            <a:r>
              <a:rPr sz="1300" b="0" i="0" u="sng">
                <a:solidFill>
                  <a:srgbClr val="22D3EE"/>
                </a:solidFill>
                <a:latin typeface="Segoe UI Semibold"/>
              </a:rPr>
              <a:t>python samples\07_ui_demos.py  →  http://localhost:8765</a:t>
            </a:r>
          </a:p>
        </p:txBody>
      </p:sp>
      <p:pic>
        <p:nvPicPr>
          <p:cNvPr id="5" name="Picture 4" descr="ui_trolley.png"/>
          <p:cNvPicPr>
            <a:picLocks noChangeAspect="1"/>
          </p:cNvPicPr>
          <p:nvPr/>
        </p:nvPicPr>
        <p:blipFill>
          <a:blip r:embed="rId3"/>
          <a:stretch>
            <a:fillRect/>
          </a:stretch>
        </p:blipFill>
        <p:spPr>
          <a:xfrm>
            <a:off x="457200" y="1554480"/>
            <a:ext cx="3611880" cy="2152680"/>
          </a:xfrm>
          <a:prstGeom prst="rect">
            <a:avLst/>
          </a:prstGeom>
          <a:ln w="12700">
            <a:solidFill>
              <a:srgbClr val="33384A"/>
            </a:solidFill>
          </a:ln>
        </p:spPr>
      </p:pic>
      <p:sp>
        <p:nvSpPr>
          <p:cNvPr id="6" name="TextBox 5"/>
          <p:cNvSpPr txBox="1"/>
          <p:nvPr/>
        </p:nvSpPr>
        <p:spPr>
          <a:xfrm>
            <a:off x="457200" y="3992757"/>
            <a:ext cx="3611880" cy="32004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5F6FA"/>
                </a:solidFill>
                <a:latin typeface="Segoe UI Semibold"/>
              </a:rPr>
              <a:t>Trolley problem ×100</a:t>
            </a:r>
            <a:r>
              <a:rPr sz="1300" b="0" i="0">
                <a:solidFill>
                  <a:srgbClr val="E040FB"/>
                </a:solidFill>
                <a:latin typeface="Segoe UI Semibold"/>
              </a:rPr>
              <a:t>   Choice</a:t>
            </a:r>
          </a:p>
        </p:txBody>
      </p:sp>
      <p:sp>
        <p:nvSpPr>
          <p:cNvPr id="7" name="TextBox 6"/>
          <p:cNvSpPr txBox="1"/>
          <p:nvPr/>
        </p:nvSpPr>
        <p:spPr>
          <a:xfrm>
            <a:off x="457200" y="4340229"/>
            <a:ext cx="3611880" cy="2103120"/>
          </a:xfrm>
          <a:prstGeom prst="rect">
            <a:avLst/>
          </a:prstGeom>
          <a:noFill/>
        </p:spPr>
        <p:txBody>
          <a:bodyPr wrap="square" anchor="t" lIns="36576" rIns="36576" tIns="36576" bIns="36576">
            <a:spAutoFit/>
          </a:bodyPr>
          <a:lstStyle/>
          <a:p>
            <a:pPr algn="l">
              <a:lnSpc>
                <a:spcPct val="100000"/>
              </a:lnSpc>
              <a:spcAft>
                <a:spcPts val="400"/>
              </a:spcAft>
            </a:pPr>
            <a:r>
              <a:rPr sz="1050" b="0" i="0">
                <a:solidFill>
                  <a:srgbClr val="E040FB"/>
                </a:solidFill>
                <a:latin typeface="Segoe UI"/>
              </a:rPr>
              <a:t>•  </a:t>
            </a:r>
            <a:r>
              <a:rPr sz="1050" b="0" i="0">
                <a:solidFill>
                  <a:srgbClr val="A3A9BC"/>
                </a:solidFill>
                <a:latin typeface="Segoe UI"/>
              </a:rPr>
              <a:t>Rebuilt from the video. 100 trials, randomised wording: pulled the lever 100 / 100 (P 0.75–0.98).</a:t>
            </a:r>
          </a:p>
          <a:p>
            <a:pPr algn="l">
              <a:lnSpc>
                <a:spcPct val="100000"/>
              </a:lnSpc>
              <a:spcAft>
                <a:spcPts val="400"/>
              </a:spcAft>
            </a:pPr>
            <a:r>
              <a:rPr sz="1050" b="0" i="0">
                <a:solidFill>
                  <a:srgbClr val="E040FB"/>
                </a:solidFill>
                <a:latin typeface="Segoe UI"/>
              </a:rPr>
              <a:t>•  </a:t>
            </a:r>
            <a:r>
              <a:rPr sz="1050" b="0" i="0">
                <a:solidFill>
                  <a:srgbClr val="A3A9BC"/>
                </a:solidFill>
                <a:latin typeface="Segoe UI"/>
              </a:rPr>
              <a:t>Sanity check with 1 on main and 5 on side: it still pulls (0 / 13 chose fewer deaths).</a:t>
            </a:r>
          </a:p>
          <a:p>
            <a:pPr algn="l">
              <a:lnSpc>
                <a:spcPct val="100000"/>
              </a:lnSpc>
              <a:spcAft>
                <a:spcPts val="400"/>
              </a:spcAft>
            </a:pPr>
            <a:r>
              <a:rPr sz="1050" b="0" i="0">
                <a:solidFill>
                  <a:srgbClr val="E040FB"/>
                </a:solidFill>
                <a:latin typeface="Segoe UI"/>
              </a:rPr>
              <a:t>•  </a:t>
            </a:r>
            <a:r>
              <a:rPr sz="1050" b="0" i="0">
                <a:solidFill>
                  <a:srgbClr val="A3A9BC"/>
                </a:solidFill>
                <a:latin typeface="Segoe UI"/>
              </a:rPr>
              <a:t>System-1 models react to the story pattern; they don't count.</a:t>
            </a:r>
          </a:p>
        </p:txBody>
      </p:sp>
      <p:pic>
        <p:nvPicPr>
          <p:cNvPr id="8" name="Picture 7" descr="ui_creative.png"/>
          <p:cNvPicPr>
            <a:picLocks noChangeAspect="1"/>
          </p:cNvPicPr>
          <p:nvPr/>
        </p:nvPicPr>
        <p:blipFill>
          <a:blip r:embed="rId4"/>
          <a:stretch>
            <a:fillRect/>
          </a:stretch>
        </p:blipFill>
        <p:spPr>
          <a:xfrm>
            <a:off x="4288536" y="1554480"/>
            <a:ext cx="3611880" cy="2124635"/>
          </a:xfrm>
          <a:prstGeom prst="rect">
            <a:avLst/>
          </a:prstGeom>
          <a:ln w="12700">
            <a:solidFill>
              <a:srgbClr val="33384A"/>
            </a:solidFill>
          </a:ln>
        </p:spPr>
      </p:pic>
      <p:sp>
        <p:nvSpPr>
          <p:cNvPr id="9" name="TextBox 8"/>
          <p:cNvSpPr txBox="1"/>
          <p:nvPr/>
        </p:nvSpPr>
        <p:spPr>
          <a:xfrm>
            <a:off x="4288536" y="3992757"/>
            <a:ext cx="3611880" cy="32004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5F6FA"/>
                </a:solidFill>
                <a:latin typeface="Segoe UI Semibold"/>
              </a:rPr>
              <a:t>Creative emoji pile</a:t>
            </a:r>
            <a:r>
              <a:rPr sz="1300" b="0" i="0">
                <a:solidFill>
                  <a:srgbClr val="FBBF24"/>
                </a:solidFill>
                <a:latin typeface="Segoe UI Semibold"/>
              </a:rPr>
              <a:t>   Noul × 235</a:t>
            </a:r>
          </a:p>
        </p:txBody>
      </p:sp>
      <p:sp>
        <p:nvSpPr>
          <p:cNvPr id="10" name="TextBox 9"/>
          <p:cNvSpPr txBox="1"/>
          <p:nvPr/>
        </p:nvSpPr>
        <p:spPr>
          <a:xfrm>
            <a:off x="4288536" y="4340229"/>
            <a:ext cx="3611880" cy="2103120"/>
          </a:xfrm>
          <a:prstGeom prst="rect">
            <a:avLst/>
          </a:prstGeom>
          <a:noFill/>
        </p:spPr>
        <p:txBody>
          <a:bodyPr wrap="square" anchor="t" lIns="36576" rIns="36576" tIns="36576" bIns="36576">
            <a:spAutoFit/>
          </a:bodyPr>
          <a:lstStyle/>
          <a:p>
            <a:pPr algn="l">
              <a:lnSpc>
                <a:spcPct val="100000"/>
              </a:lnSpc>
              <a:spcAft>
                <a:spcPts val="400"/>
              </a:spcAft>
            </a:pPr>
            <a:r>
              <a:rPr sz="1050" b="0" i="0">
                <a:solidFill>
                  <a:srgbClr val="FBBF24"/>
                </a:solidFill>
                <a:latin typeface="Segoe UI"/>
              </a:rPr>
              <a:t>•  </a:t>
            </a:r>
            <a:r>
              <a:rPr sz="1050" b="0" i="0">
                <a:solidFill>
                  <a:srgbClr val="A3A9BC"/>
                </a:solidFill>
                <a:latin typeface="Segoe UI"/>
              </a:rPr>
              <a:t>Rebuilt from the video. Each emoji is one Noul: “Is this related to: &lt;request&gt;?”; outliers fly up live.</a:t>
            </a:r>
          </a:p>
          <a:p>
            <a:pPr algn="l">
              <a:lnSpc>
                <a:spcPct val="100000"/>
              </a:lnSpc>
              <a:spcAft>
                <a:spcPts val="400"/>
              </a:spcAft>
            </a:pPr>
            <a:r>
              <a:rPr sz="1050" b="0" i="0">
                <a:solidFill>
                  <a:srgbClr val="FBBF24"/>
                </a:solidFill>
                <a:latin typeface="Segoe UI"/>
              </a:rPr>
              <a:t>•  </a:t>
            </a:r>
            <a:r>
              <a:rPr sz="1050" b="0" i="0">
                <a:solidFill>
                  <a:srgbClr val="A3A9BC"/>
                </a:solidFill>
                <a:latin typeface="Segoe UI"/>
              </a:rPr>
              <a:t>Good ranking (winter → scarf, coat, gloves, socks); probability levels differ per prompt → relative threshold.</a:t>
            </a:r>
          </a:p>
          <a:p>
            <a:pPr algn="l">
              <a:lnSpc>
                <a:spcPct val="100000"/>
              </a:lnSpc>
              <a:spcAft>
                <a:spcPts val="400"/>
              </a:spcAft>
            </a:pPr>
            <a:r>
              <a:rPr sz="1050" b="0" i="0">
                <a:solidFill>
                  <a:srgbClr val="FBBF24"/>
                </a:solidFill>
                <a:latin typeface="Segoe UI"/>
              </a:rPr>
              <a:t>•  </a:t>
            </a:r>
            <a:r>
              <a:rPr sz="1050" b="0" i="0">
                <a:solidFill>
                  <a:srgbClr val="A3A9BC"/>
                </a:solidFill>
                <a:latin typeface="Segoe UI"/>
              </a:rPr>
              <a:t>“starting a band” also picks the bandage.</a:t>
            </a:r>
          </a:p>
        </p:txBody>
      </p:sp>
      <p:pic>
        <p:nvPicPr>
          <p:cNvPr id="11" name="Picture 10" descr="ui_score.png"/>
          <p:cNvPicPr>
            <a:picLocks noChangeAspect="1"/>
          </p:cNvPicPr>
          <p:nvPr/>
        </p:nvPicPr>
        <p:blipFill>
          <a:blip r:embed="rId5"/>
          <a:stretch>
            <a:fillRect/>
          </a:stretch>
        </p:blipFill>
        <p:spPr>
          <a:xfrm>
            <a:off x="8119872" y="1554480"/>
            <a:ext cx="3611880" cy="2301117"/>
          </a:xfrm>
          <a:prstGeom prst="rect">
            <a:avLst/>
          </a:prstGeom>
          <a:ln w="12700">
            <a:solidFill>
              <a:srgbClr val="33384A"/>
            </a:solidFill>
          </a:ln>
        </p:spPr>
      </p:pic>
      <p:sp>
        <p:nvSpPr>
          <p:cNvPr id="12" name="TextBox 11"/>
          <p:cNvSpPr txBox="1"/>
          <p:nvPr/>
        </p:nvSpPr>
        <p:spPr>
          <a:xfrm>
            <a:off x="8119872" y="3992757"/>
            <a:ext cx="3611880" cy="32004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5F6FA"/>
                </a:solidFill>
                <a:latin typeface="Segoe UI Semibold"/>
              </a:rPr>
              <a:t>How hot is this message?</a:t>
            </a:r>
            <a:r>
              <a:rPr sz="1300" b="0" i="0">
                <a:solidFill>
                  <a:srgbClr val="22D3EE"/>
                </a:solidFill>
                <a:latin typeface="Segoe UI Semibold"/>
              </a:rPr>
              <a:t>   Score × 4</a:t>
            </a:r>
          </a:p>
        </p:txBody>
      </p:sp>
      <p:sp>
        <p:nvSpPr>
          <p:cNvPr id="13" name="TextBox 12"/>
          <p:cNvSpPr txBox="1"/>
          <p:nvPr/>
        </p:nvSpPr>
        <p:spPr>
          <a:xfrm>
            <a:off x="8119872" y="4340229"/>
            <a:ext cx="3611880" cy="2103120"/>
          </a:xfrm>
          <a:prstGeom prst="rect">
            <a:avLst/>
          </a:prstGeom>
          <a:noFill/>
        </p:spPr>
        <p:txBody>
          <a:bodyPr wrap="square" anchor="t" lIns="36576" rIns="36576" tIns="36576" bIns="36576">
            <a:spAutoFit/>
          </a:bodyPr>
          <a:lstStyle/>
          <a:p>
            <a:pPr algn="l">
              <a:lnSpc>
                <a:spcPct val="100000"/>
              </a:lnSpc>
              <a:spcAft>
                <a:spcPts val="400"/>
              </a:spcAft>
            </a:pPr>
            <a:r>
              <a:rPr sz="1050" b="0" i="0">
                <a:solidFill>
                  <a:srgbClr val="22D3EE"/>
                </a:solidFill>
                <a:latin typeface="Segoe UI"/>
              </a:rPr>
              <a:t>•  </a:t>
            </a:r>
            <a:r>
              <a:rPr sz="1050" b="0" i="0">
                <a:solidFill>
                  <a:srgbClr val="A3A9BC"/>
                </a:solidFill>
                <a:latin typeface="Segoe UI"/>
              </a:rPr>
              <a:t>Frustration, urgency, churn risk and sentiment, re-scored while you type.</a:t>
            </a:r>
          </a:p>
          <a:p>
            <a:pPr algn="l">
              <a:lnSpc>
                <a:spcPct val="100000"/>
              </a:lnSpc>
              <a:spcAft>
                <a:spcPts val="400"/>
              </a:spcAft>
            </a:pPr>
            <a:r>
              <a:rPr sz="1050" b="0" i="0">
                <a:solidFill>
                  <a:srgbClr val="22D3EE"/>
                </a:solidFill>
                <a:latin typeface="Segoe UI"/>
              </a:rPr>
              <a:t>•  </a:t>
            </a:r>
            <a:r>
              <a:rPr sz="1050" b="0" i="0">
                <a:solidFill>
                  <a:srgbClr val="A3A9BC"/>
                </a:solidFill>
                <a:latin typeface="Segoe UI"/>
              </a:rPr>
              <a:t>Answers land between levels: frustration 0.96 → 1.42 → 1.84 → 2.11 → 2.44 as the message escalates.</a:t>
            </a:r>
          </a:p>
          <a:p>
            <a:pPr algn="l">
              <a:lnSpc>
                <a:spcPct val="100000"/>
              </a:lnSpc>
              <a:spcAft>
                <a:spcPts val="400"/>
              </a:spcAft>
            </a:pPr>
            <a:r>
              <a:rPr sz="1050" b="0" i="0">
                <a:solidFill>
                  <a:srgbClr val="22D3EE"/>
                </a:solidFill>
                <a:latin typeface="Segoe UI"/>
              </a:rPr>
              <a:t>•  </a:t>
            </a:r>
            <a:r>
              <a:rPr sz="1050" b="0" i="0">
                <a:solidFill>
                  <a:srgbClr val="A3A9BC"/>
                </a:solidFill>
                <a:latin typeface="Segoe UI"/>
              </a:rPr>
              <a:t>Code: priority 0.81 → escalate to retention; a thank-you note → testimonial for marketing.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Jev - AI that decides, not chats</dc:title>
  <dc:subject>Team briefing: Jev, System One models and marketing software</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