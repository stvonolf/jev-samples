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WHAT: Jev (TypeSafe AI, early access since Sept 2026) is the first "System One" model. You send a state and typed questions (choice / score / noul) to POST /v1/systemone and get typed answers with probabilities back. No text generation.</a:t>
            </a:r>
          </a:p>
          <a:p/>
          <a:p>
            <a:r>
              <a:t>WHY (Caleb Writes Code, "Jev explained in 7min"): the AI stack's application layer pushed models toward chat (RLHF) and coding agents (RLVR). Workflow automation never crossed the cost/speed threshold, even with very capable models. TypeSafe argues that forcing chat/agent-optimised models into automation is the wrong approach and trains for calibrated decisions instead (RLCD). Most community demos show off speed (sorting email, RAG, games, model routing) rather than depth - LLMs can do these functionally, but not at 70-500 ms, because they generate tokens one after another.</a:t>
            </a:r>
          </a:p>
          <a:p/>
          <a:p>
            <a:r>
              <a:t>HOW FAST/CHEAP: vendor-reported 40-200x faster; LangChain quotes 20-200x faster and 40-400x cheaper on classification-style tasks. Price $0.042 per 1M input tokens, output free (~$0.0004 per decision).</a:t>
            </a:r>
          </a:p>
          <a:p/>
          <a:p>
            <a:r>
              <a:t>NAME: System 1 / System 2 from Kahneman, "Thinking, Fast and Slow".</a:t>
            </a:r>
          </a:p>
          <a:p/>
          <a:p>
            <a:r>
              <a:t>LANGCHAIN DEMO: "Is there PII in this text?" - LLM writes an answer + structured output in ~5 s; Jev returns 0.98 almost instantly.</a:t>
            </a:r>
          </a:p>
          <a:p/>
          <a:p>
            <a:r>
              <a:t>Takeaway from video 1: this is less about Jev's novelty and more about the use-case space growing horizontally - narrow, specialised models next to general LLMs.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PRIMITIVES (all three videos + docs.typesafe.ai/api):</a:t>
            </a:r>
          </a:p>
          <a:p>
            <a:r>
              <a:t>- Choice: map of option -&gt; rubric (or null). Returns choice, probabilities per option, confidence. Max 255 options.</a:t>
            </a:r>
          </a:p>
          <a:p>
            <a:r>
              <a:t>- Score: ordered array of level descriptions (2-10). Returns a probability-weighted score that can land between levels (1.04 = frustrated, not very angry), plus legend/probabilities/confidence.</a:t>
            </a:r>
          </a:p>
          <a:p>
            <a:r>
              <a:t>- Noul: yes/no; returns P(yes). Optional criteria for what true/false mean.</a:t>
            </a:r>
          </a:p>
          <a:p>
            <a:r>
              <a:t>- Many questions about one state are answered in ONE parallel pass - adding questions barely changes latency (unlike LLMs, which reason sequentially).</a:t>
            </a:r>
          </a:p>
          <a:p>
            <a:r>
              <a:t>- Instructions and criteria can be structured JSON; refer to state fields in backticks.</a:t>
            </a:r>
          </a:p>
          <a:p/>
          <a:p>
            <a:r>
              <a:t>Caleb's framing: "It almost feels like we're back to logic gates and registers" - you build abstractions on top. On the Pareto frontier Jev competes with Flash/Nano-class models, but only on workflow-specific tasks.</a:t>
            </a:r>
          </a:p>
          <a:p/>
          <a:p>
            <a:r>
              <a:t>DOCS PATTERNS: confidence-gated routing (the answer tells you WHAT, confidence tells you WHETHER to act), composite scoring (atomic scores, weights in code), speculative fan-out (ask everything in one call, code decides what is relevant), intent routing.</a:t>
            </a:r>
          </a:p>
          <a:p/>
          <a:p>
            <a:r>
              <a:t>LANGCHAIN ("Building a Harness with Jev"): langchain-typesafe exposes TypeSafeClassifier plus experimental middleware: ModelRouterMiddleware (fast vs powerful model per request) and AutoModeMiddleware (tool-risk gating). Jev-as-a-judge for LangSmith online evals: rubric criteria scored by Jev - reported as cheaper, faster and more consistent than LLM judges. Sample 06 in our repo implements all three ideas.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MARKETING USE CASES (TypeSafe use-case map: lead generation, advertising, customer support, moderation; Ryze AI "Jev for Marketing: 8 use cases and the limits"):</a:t>
            </a:r>
          </a:p>
          <a:p>
            <a:r>
              <a:t>- Lead scoring and routing: score each lead against the ICP and pick the owner - two questions, one call. Sales gets the top band, the rest goes to nurture. (A 700-lead demo on X did exactly this.)</a:t>
            </a:r>
          </a:p>
          <a:p>
            <a:r>
              <a:t>- Search terms &amp; negatives (paid search): buyer / researcher / job seeker / competitor / junk -&gt; auto-negative, queue or drop by confidence.</a:t>
            </a:r>
          </a:p>
          <a:p>
            <a:r>
              <a:t>- Ad creative tagging: Matthew Berman ran Jev on 724 live ads from 37 brands in 40 s (~9 cents) - hook, format, offer, CTA, awareness stage, landing-page mismatch.</a:t>
            </a:r>
          </a:p>
          <a:p>
            <a:r>
              <a:t>- SEO internal links: the 586-page Distribb demo from video 2.</a:t>
            </a:r>
          </a:p>
          <a:p>
            <a:r>
              <a:t>- AI citation / GEO checks: "Is our brand recommended in this AI answer?" (Noul).</a:t>
            </a:r>
          </a:p>
          <a:p>
            <a:r>
              <a:t>- Review &amp; survey themes: classify every response instead of sampling 200.</a:t>
            </a:r>
          </a:p>
          <a:p>
            <a:r>
              <a:t>- Content QA gate: 20 Nouls per draft; only passing drafts reach an editor.</a:t>
            </a:r>
          </a:p>
          <a:p>
            <a:r>
              <a:t>- Model routing: frontier vs small vs no model.</a:t>
            </a:r>
          </a:p>
          <a:p>
            <a:r>
              <a:t>Cost at list price is cents per job -&gt; jobs that ran monthly on a frontier LLM can run nightly.</a:t>
            </a:r>
          </a:p>
          <a:p/>
          <a:p>
            <a:r>
              <a:t>DECIDE-THEN-ACT LOOP (Ryze): collect with code -&gt; shortlist to 10-15 candidates -&gt; one bounded question per row -&gt; threshold (high confidence auto, middle band to approval queue, low dropped) -&gt; LLM writes only where text is needed -&gt; verify the LLM output with Jev before it ships.</a:t>
            </a:r>
          </a:p>
          <a:p/>
          <a:p>
            <a:r>
              <a:t>VIDEO 2 (Pursuing AI): AI that watches, decides and acts. Driving simulator (real-time control), trolley problem 100 trials (99% pull, consistent), designer visual exploration (hundreds of tiny decisions what to show), voice + gesture control of a drawing app, live slop detector on X, SEO 586 pages, Laya (local, M3 Max) playing Snake at ~60 decisions/s with 10-18 ms latency and ~1 GB memory.</a:t>
            </a:r>
          </a:p>
          <a:p/>
          <a:p>
            <a:r>
              <a:t>LIMITS: no explanation; bounded answers only; vendor-reported benchmarks measure agreement with frontier models (Jev 67.8% vs Claude Opus 5 73.1%, GPT-5.6 Sol 74.1% on TypeSafe's 4-workflow benchmark); "cannot hallucinate" means it cannot break the schema - it can still pick the wrong option. Label 500 rows of your own data before trusting a threshold. Waitlist access, price may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REPO: samples/ - six runnable Python samples + jev_client.py (local Laya backend or any Jev-compatible HTTP endpoint via JEV_BASE_URL / JEV_API_KEY). Run: python -m venv .venv; .venv\Scripts\pip install -r samples\requirements.txt; cd samples; ..\.venv\Scripts\python 01_lead_scoring.py</a:t>
            </a:r>
          </a:p>
          <a:p/>
          <a:p>
            <a:r>
              <a:t>LAYA (huggingface.co/convaiinnovations/laya): ModernBERT-large backbone (395M) + a decision head trained from scratch, 421M total; multilingual checkpoint on mmBERT-base for 100+ languages; trained with RLCD-style proper scoring rules. laya-serve exposes the same POST /v1/systemone request/response shape as TypeSafe Jev. Author-reported vs Jev (third-party numbers, different setups): 7.8x faster on a T4 GPU (32.8 ms vs 236-276 ms p50), better calibration after temperature fitting, but Jev is better with &gt;20 options (Banking77: 0.87 vs 0.43). The base checkpoint scores 0.36 on the typed-decisions benchmark; the fine-tuned typed-decisions checkpoint 0.77 - fine-tuning matters.</a:t>
            </a:r>
          </a:p>
          <a:p/>
          <a:p>
            <a:r>
              <a:t>OUR MEASUREMENTS (Intel Core Ultra 7 268V, CPU only): ~250-350 ms for one short question, ~1-2 s for 4-5 questions about one item, model load ~10 s from cache. Fine for batch/demo; use a GPU or the Jev API for real-time.</a:t>
            </a:r>
          </a:p>
          <a:p/>
          <a:p>
            <a:r>
              <a:t>LESSONS: we tested 3-5 phrasings per question on small labelled sets. Examples: "Do both pages cover the same marketing topic?" (AUC 1.0) beat "Are the pages closely related?"; short option labels beat long descriptions for the command bar; plain-text tool-call descriptions + a "kind of action" Choice beat risk Nouls on JSON. Giving the model fewer CRM fields improved persona detection.</a:t>
            </a:r>
          </a:p>
          <a:p/>
          <a:p>
            <a:r>
              <a:t>NEXT STEPS: one pilot use case, label data, measure Laya vs Jev, ship behind confidence gating with human review for the middle band.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https://www.youtube.com/watch?v=vj7hysh0mOI" TargetMode="External"/><Relationship Id="rId4" Type="http://schemas.openxmlformats.org/officeDocument/2006/relationships/hyperlink" Target="https://www.youtube.com/watch?v=VE5dsWll06M" TargetMode="Externa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VE5dsWll06M" TargetMode="Externa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hyperlink" Target="https://www.youtube.com/watch?v=I34qxJjyms0" TargetMode="Externa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D3EE"/>
                </a:solidFill>
                <a:latin typeface="Segoe UI Semibold"/>
              </a:rPr>
              <a:t>JEV · TEAM BRIEFING  ·  1 /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94944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600" b="0" i="0">
                <a:solidFill>
                  <a:srgbClr val="F5F6FA"/>
                </a:solidFill>
                <a:latin typeface="Segoe UI Semibold"/>
              </a:rPr>
              <a:t>Jev: AI that </a:t>
            </a:r>
            <a:r>
              <a:rPr sz="3600" b="0" i="0">
                <a:solidFill>
                  <a:srgbClr val="E040FB"/>
                </a:solidFill>
                <a:latin typeface="Segoe UI Semibold"/>
              </a:rPr>
              <a:t>decides</a:t>
            </a:r>
            <a:r>
              <a:rPr sz="3600" b="0" i="0">
                <a:solidFill>
                  <a:srgbClr val="F5F6FA"/>
                </a:solidFill>
                <a:latin typeface="Segoe UI Semibold"/>
              </a:rPr>
              <a:t>,
not chats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676656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A3A9BC"/>
                </a:solidFill>
                <a:latin typeface="Segoe UI"/>
              </a:rPr>
              <a:t>TypeSafe AI's first “System One” model: fast, typed, calibrated decisions that software can use directly.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14600"/>
            <a:ext cx="6720840" cy="4023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00" b="0" i="0">
                <a:solidFill>
                  <a:srgbClr val="22D3EE"/>
                </a:solidFill>
                <a:latin typeface="Segoe UI Semibold"/>
              </a:rPr>
              <a:t>▸  </a:t>
            </a:r>
            <a:r>
              <a:rPr sz="1400" b="0" i="0">
                <a:solidFill>
                  <a:srgbClr val="F5F6FA"/>
                </a:solidFill>
                <a:latin typeface="Segoe UI Semibold"/>
              </a:rPr>
              <a:t>What it is.  </a:t>
            </a:r>
            <a:r>
              <a:rPr sz="1400" b="0" i="0">
                <a:solidFill>
                  <a:srgbClr val="A3A9BC"/>
                </a:solidFill>
                <a:latin typeface="Segoe UI"/>
              </a:rPr>
              <a:t>Input = a state (text or JSON) + typed questions. Output = typed answers with calibrated probabilities. It never generates text, so there is nothing to parse and no broken schema.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00" b="0" i="0">
                <a:solidFill>
                  <a:srgbClr val="22D3EE"/>
                </a:solidFill>
                <a:latin typeface="Segoe UI Semibold"/>
              </a:rPr>
              <a:t>▸  </a:t>
            </a:r>
            <a:r>
              <a:rPr sz="1400" b="0" i="0">
                <a:solidFill>
                  <a:srgbClr val="F5F6FA"/>
                </a:solidFill>
                <a:latin typeface="Segoe UI Semibold"/>
              </a:rPr>
              <a:t>Why it exists.  </a:t>
            </a:r>
            <a:r>
              <a:rPr sz="1400" b="0" i="0">
                <a:solidFill>
                  <a:srgbClr val="A3A9BC"/>
                </a:solidFill>
                <a:latin typeface="Segoe UI"/>
              </a:rPr>
              <a:t>LLMs were optimised for chat (RLHF) and coding agents (RLVR). Workflow automation needs thousands of quick decisions under uncertainty: the neglected use case.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00" b="0" i="0">
                <a:solidFill>
                  <a:srgbClr val="22D3EE"/>
                </a:solidFill>
                <a:latin typeface="Segoe UI Semibold"/>
              </a:rPr>
              <a:t>▸  </a:t>
            </a:r>
            <a:r>
              <a:rPr sz="1400" b="0" i="0">
                <a:solidFill>
                  <a:srgbClr val="F5F6FA"/>
                </a:solidFill>
                <a:latin typeface="Segoe UI Semibold"/>
              </a:rPr>
              <a:t>How it is trained.  </a:t>
            </a:r>
            <a:r>
              <a:rPr sz="1400" b="0" i="0">
                <a:solidFill>
                  <a:srgbClr val="A3A9BC"/>
                </a:solidFill>
                <a:latin typeface="Segoe UI"/>
              </a:rPr>
              <a:t>RLCD = reinforcement learning for calibrated decisions. Rewards come from proper scoring rules, so honest probabilities score best.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00" b="0" i="0">
                <a:solidFill>
                  <a:srgbClr val="22D3EE"/>
                </a:solidFill>
                <a:latin typeface="Segoe UI Semibold"/>
              </a:rPr>
              <a:t>▸  </a:t>
            </a:r>
            <a:r>
              <a:rPr sz="1400" b="0" i="0">
                <a:solidFill>
                  <a:srgbClr val="F5F6FA"/>
                </a:solidFill>
                <a:latin typeface="Segoe UI Semibold"/>
              </a:rPr>
              <a:t>Speed and cost.  </a:t>
            </a:r>
            <a:r>
              <a:rPr sz="1400" b="0" i="0">
                <a:solidFill>
                  <a:srgbClr val="A3A9BC"/>
                </a:solidFill>
                <a:latin typeface="Segoe UI"/>
              </a:rPr>
              <a:t>All questions in one parallel pass: 70–500 ms, 20–200× faster and 40–400× cheaper than LLMs on classification-style tasks. $0.042 per 1M input tokens, output is free.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00" b="0" i="0">
                <a:solidFill>
                  <a:srgbClr val="22D3EE"/>
                </a:solidFill>
                <a:latin typeface="Segoe UI Semibold"/>
              </a:rPr>
              <a:t>▸  </a:t>
            </a:r>
            <a:r>
              <a:rPr sz="1400" b="0" i="0">
                <a:solidFill>
                  <a:srgbClr val="F5F6FA"/>
                </a:solidFill>
                <a:latin typeface="Segoe UI Semibold"/>
              </a:rPr>
              <a:t>Not an LLM replacement.  </a:t>
            </a:r>
            <a:r>
              <a:rPr sz="1400" b="0" i="0">
                <a:solidFill>
                  <a:srgbClr val="A3A9BC"/>
                </a:solidFill>
                <a:latin typeface="Segoe UI"/>
              </a:rPr>
              <a:t>It cannot write, explain or plan. Jev is System 1 (fast intuition); LLMs stay System 2 (slow reasoning). Use both.</a:t>
            </a:r>
          </a:p>
        </p:txBody>
      </p:sp>
      <p:pic>
        <p:nvPicPr>
          <p:cNvPr id="6" name="Picture 5" descr="yt_vj7hysh0mOI.jp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411480"/>
            <a:ext cx="4160520" cy="2340292"/>
          </a:xfrm>
          <a:prstGeom prst="rect">
            <a:avLst/>
          </a:prstGeom>
          <a:ln w="12700">
            <a:solidFill>
              <a:srgbClr val="33384A"/>
            </a:solidFill>
          </a:ln>
        </p:spPr>
      </p:pic>
      <p:sp>
        <p:nvSpPr>
          <p:cNvPr id="7" name="TextBox 6">
            <a:hlinkClick r:id="rId3"/>
          </p:cNvPr>
          <p:cNvSpPr txBox="1"/>
          <p:nvPr/>
        </p:nvSpPr>
        <p:spPr>
          <a:xfrm>
            <a:off x="7589520" y="2779776"/>
            <a:ext cx="4206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A3A9BC"/>
                </a:solidFill>
                <a:latin typeface="Segoe UI"/>
              </a:rPr>
              <a:t>Video: </a:t>
            </a:r>
            <a:r>
              <a:rPr sz="1000" b="0" i="0" u="sng">
                <a:solidFill>
                  <a:srgbClr val="A3A9BC"/>
                </a:solidFill>
                <a:latin typeface="Segoe UI"/>
              </a:rPr>
              <a:t>“Jev explained in 7min..” – Caleb Writes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3200400"/>
            <a:ext cx="4160520" cy="3246120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26679" y="3291840"/>
            <a:ext cx="3931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5F6FA"/>
                </a:solidFill>
                <a:latin typeface="Segoe UI Semibold"/>
              </a:rPr>
              <a:t>Same question, two models: </a:t>
            </a:r>
            <a:r>
              <a:rPr sz="1150" b="0" i="0">
                <a:solidFill>
                  <a:srgbClr val="A3A9BC"/>
                </a:solidFill>
                <a:latin typeface="Segoe UI"/>
              </a:rPr>
              <a:t>“Is there PII in this text?”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3749039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F87171"/>
                </a:solidFill>
                <a:latin typeface="Segoe UI Semibold"/>
              </a:rPr>
              <a:t>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3749039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F87171"/>
                </a:solidFill>
                <a:latin typeface="Segoe UI Semibold"/>
              </a:rPr>
              <a:t>≈ 5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4096511"/>
            <a:ext cx="1188720" cy="530352"/>
          </a:xfrm>
          <a:prstGeom prst="roundRect">
            <a:avLst>
              <a:gd name="adj" fmla="val 6000"/>
            </a:avLst>
          </a:prstGeom>
          <a:solidFill>
            <a:srgbClr val="24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5F6FA"/>
                </a:solidFill>
                <a:latin typeface="Segoe UI"/>
              </a:rPr>
              <a:t>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7" y="4178807"/>
            <a:ext cx="201168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A3A9BC"/>
                </a:solidFill>
                <a:latin typeface="Segoe U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59" y="4096511"/>
            <a:ext cx="1188720" cy="530352"/>
          </a:xfrm>
          <a:prstGeom prst="roundRect">
            <a:avLst>
              <a:gd name="adj" fmla="val 6000"/>
            </a:avLst>
          </a:prstGeom>
          <a:solidFill>
            <a:srgbClr val="24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5F6FA"/>
                </a:solidFill>
                <a:latin typeface="Segoe UI"/>
              </a:rPr>
              <a:t>token · token · token 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13847" y="4178807"/>
            <a:ext cx="201168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A3A9BC"/>
                </a:solidFill>
                <a:latin typeface="Segoe U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78440" y="4096511"/>
            <a:ext cx="1188720" cy="530352"/>
          </a:xfrm>
          <a:prstGeom prst="roundRect">
            <a:avLst>
              <a:gd name="adj" fmla="val 6000"/>
            </a:avLst>
          </a:prstGeom>
          <a:solidFill>
            <a:srgbClr val="242836"/>
          </a:solidFill>
          <a:ln w="158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5F6FA"/>
                </a:solidFill>
                <a:latin typeface="Segoe UI"/>
              </a:rPr>
              <a:t>text → parse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4937759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34D399"/>
                </a:solidFill>
                <a:latin typeface="Segoe UI Semibold"/>
              </a:rPr>
              <a:t>Jev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0" y="4937759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34D399"/>
                </a:solidFill>
                <a:latin typeface="Segoe UI Semibold"/>
              </a:rPr>
              <a:t>≈ 0.1 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5285231"/>
            <a:ext cx="1188720" cy="530352"/>
          </a:xfrm>
          <a:prstGeom prst="roundRect">
            <a:avLst>
              <a:gd name="adj" fmla="val 6000"/>
            </a:avLst>
          </a:prstGeom>
          <a:solidFill>
            <a:srgbClr val="24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5F6FA"/>
                </a:solidFill>
                <a:latin typeface="Segoe UI"/>
              </a:rPr>
              <a:t>state +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7967" y="5367527"/>
            <a:ext cx="201168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A3A9BC"/>
                </a:solidFill>
                <a:latin typeface="Segoe U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59" y="5285231"/>
            <a:ext cx="1188720" cy="530352"/>
          </a:xfrm>
          <a:prstGeom prst="roundRect">
            <a:avLst>
              <a:gd name="adj" fmla="val 6000"/>
            </a:avLst>
          </a:prstGeom>
          <a:solidFill>
            <a:srgbClr val="24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5F6FA"/>
                </a:solidFill>
                <a:latin typeface="Segoe UI"/>
              </a:rPr>
              <a:t>1 parallel 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13847" y="5367527"/>
            <a:ext cx="201168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A3A9BC"/>
                </a:solidFill>
                <a:latin typeface="Segoe U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78440" y="5285231"/>
            <a:ext cx="1188720" cy="530352"/>
          </a:xfrm>
          <a:prstGeom prst="roundRect">
            <a:avLst>
              <a:gd name="adj" fmla="val 6000"/>
            </a:avLst>
          </a:prstGeom>
          <a:solidFill>
            <a:srgbClr val="242836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5F6FA"/>
                </a:solidFill>
                <a:latin typeface="Segoe UI"/>
              </a:rPr>
              <a:t>noul = 0.98</a:t>
            </a:r>
          </a:p>
        </p:txBody>
      </p:sp>
      <p:sp>
        <p:nvSpPr>
          <p:cNvPr id="24" name="TextBox 23">
            <a:hlinkClick r:id="rId4"/>
          </p:cNvPr>
          <p:cNvSpPr txBox="1"/>
          <p:nvPr/>
        </p:nvSpPr>
        <p:spPr>
          <a:xfrm>
            <a:off x="7726679" y="6108192"/>
            <a:ext cx="39319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 u="sng">
                <a:solidFill>
                  <a:srgbClr val="A3A9BC"/>
                </a:solidFill>
                <a:latin typeface="Segoe UI"/>
              </a:rPr>
              <a:t>Demo from “Building a Harness with Jev” – LangChain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D3EE"/>
                </a:solidFill>
                <a:latin typeface="Segoe UI Semibold"/>
              </a:rPr>
              <a:t>HOW IT WORKS  ·  2 /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F5F6FA"/>
                </a:solidFill>
                <a:latin typeface="Segoe UI Semibold"/>
              </a:rPr>
              <a:t>Three primitives, one parallel 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15568"/>
            <a:ext cx="112471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A3A9BC"/>
                </a:solidFill>
                <a:latin typeface="Segoe UI"/>
              </a:rPr>
              <a:t>Like logic gates and registers: your code owns the control flow, Jev answers narrow typed questions.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657600" cy="64008"/>
          </a:xfrm>
          <a:prstGeom prst="rect">
            <a:avLst/>
          </a:prstGeom>
          <a:solidFill>
            <a:srgbClr val="E04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2918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E040FB"/>
                </a:solidFill>
                <a:latin typeface="Segoe UI Semibold"/>
              </a:rPr>
              <a:t>Choice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A3A9BC"/>
                </a:solidFill>
                <a:latin typeface="Segoe UI"/>
              </a:rPr>
              <a:t>Pick one option from a set you define (up to 255).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32918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F5F6FA"/>
                </a:solidFill>
                <a:latin typeface="Segoe UI"/>
              </a:rPr>
              <a:t>Which team should handle this ticket?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27248"/>
            <a:ext cx="32918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E040FB"/>
                </a:solidFill>
                <a:latin typeface="Consolas"/>
              </a:rPr>
              <a:t>choice: "billing"
p = .84 · confidence = .60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64592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270248" y="1645920"/>
            <a:ext cx="365760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53128" y="1783080"/>
            <a:ext cx="32918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2D3EE"/>
                </a:solidFill>
                <a:latin typeface="Segoe UI Semibold"/>
              </a:rPr>
              <a:t>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240280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A3A9BC"/>
                </a:solidFill>
                <a:latin typeface="Segoe UI"/>
              </a:rPr>
              <a:t>Rate on ordered levels you describe (2–10).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606040"/>
            <a:ext cx="32918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F5F6FA"/>
                </a:solidFill>
                <a:latin typeface="Segoe UI"/>
              </a:rPr>
              <a:t>How frustrated is the customer?
calm · frustrated · very angry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3127248"/>
            <a:ext cx="32918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22D3EE"/>
                </a:solidFill>
                <a:latin typeface="Consolas"/>
              </a:rPr>
              <a:t>score: 1.04
(frustrated, not very angry)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64592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083296" y="1645920"/>
            <a:ext cx="3657600" cy="6400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66175" y="1783080"/>
            <a:ext cx="32918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FBBF24"/>
                </a:solidFill>
                <a:latin typeface="Segoe UI Semibold"/>
              </a:rPr>
              <a:t>Noul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5" y="2240280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A3A9BC"/>
                </a:solidFill>
                <a:latin typeface="Segoe UI"/>
              </a:rPr>
              <a:t>Yes/no question → probability of “yes”.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5" y="2606040"/>
            <a:ext cx="32918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F5F6FA"/>
                </a:solidFill>
                <a:latin typeface="Segoe UI"/>
              </a:rPr>
              <a:t>Does the message convey urgency?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3127248"/>
            <a:ext cx="32918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BBF24"/>
                </a:solidFill>
                <a:latin typeface="Consolas"/>
              </a:rPr>
              <a:t>noul: 0.999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931920"/>
            <a:ext cx="5623560" cy="2514600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1792" y="4005072"/>
            <a:ext cx="5394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A3A9BC"/>
                </a:solidFill>
                <a:latin typeface="Segoe UI Semibold"/>
              </a:rPr>
              <a:t>One request, three answers (support-ticket example from the docs)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4343400"/>
            <a:ext cx="5394960" cy="2103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22D3EE"/>
                </a:solidFill>
                <a:latin typeface="Consolas"/>
              </a:rPr>
              <a:t>POST</a:t>
            </a:r>
            <a:r>
              <a:rPr sz="1150" b="0" i="0">
                <a:solidFill>
                  <a:srgbClr val="F5F6FA"/>
                </a:solidFill>
                <a:latin typeface="Consolas"/>
              </a:rPr>
              <a:t> /v1/systemone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F5F6FA"/>
                </a:solidFill>
                <a:latin typeface="Consolas"/>
              </a:rPr>
              <a:t>{ </a:t>
            </a:r>
            <a:r>
              <a:rPr sz="1150" b="0" i="0">
                <a:solidFill>
                  <a:srgbClr val="FBBF24"/>
                </a:solidFill>
                <a:latin typeface="Consolas"/>
              </a:rPr>
              <a:t>"state"</a:t>
            </a:r>
            <a:r>
              <a:rPr sz="1150" b="0" i="0">
                <a:solidFill>
                  <a:srgbClr val="F5F6FA"/>
                </a:solidFill>
                <a:latin typeface="Consolas"/>
              </a:rPr>
              <a:t>: "My Stripe connection has failed for 3 days.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F5F6FA"/>
                </a:solidFill>
                <a:latin typeface="Consolas"/>
              </a:rPr>
              <a:t>            I'm losing sales. Please help ASAP.",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F5F6FA"/>
                </a:solidFill>
                <a:latin typeface="Consolas"/>
              </a:rPr>
              <a:t>  </a:t>
            </a:r>
            <a:r>
              <a:rPr sz="1150" b="0" i="0">
                <a:solidFill>
                  <a:srgbClr val="FBBF24"/>
                </a:solidFill>
                <a:latin typeface="Consolas"/>
              </a:rPr>
              <a:t>"questions"</a:t>
            </a:r>
            <a:r>
              <a:rPr sz="1150" b="0" i="0">
                <a:solidFill>
                  <a:srgbClr val="F5F6FA"/>
                </a:solidFill>
                <a:latin typeface="Consolas"/>
              </a:rPr>
              <a:t>: {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F5F6FA"/>
                </a:solidFill>
                <a:latin typeface="Consolas"/>
              </a:rPr>
              <a:t>    "team":   {</a:t>
            </a:r>
            <a:r>
              <a:rPr sz="1150" b="0" i="0">
                <a:solidFill>
                  <a:srgbClr val="E040FB"/>
                </a:solidFill>
                <a:latin typeface="Consolas"/>
              </a:rPr>
              <a:t>"type": "choice"</a:t>
            </a:r>
            <a:r>
              <a:rPr sz="1150" b="0" i="0">
                <a:solidFill>
                  <a:srgbClr val="F5F6FA"/>
                </a:solidFill>
                <a:latin typeface="Consolas"/>
              </a:rPr>
              <a:t>, "criteria": {"billing": …}},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F5F6FA"/>
                </a:solidFill>
                <a:latin typeface="Consolas"/>
              </a:rPr>
              <a:t>    "mood":   {</a:t>
            </a:r>
            <a:r>
              <a:rPr sz="1150" b="0" i="0">
                <a:solidFill>
                  <a:srgbClr val="22D3EE"/>
                </a:solidFill>
                <a:latin typeface="Consolas"/>
              </a:rPr>
              <a:t>"type": "score"</a:t>
            </a:r>
            <a:r>
              <a:rPr sz="1150" b="0" i="0">
                <a:solidFill>
                  <a:srgbClr val="F5F6FA"/>
                </a:solidFill>
                <a:latin typeface="Consolas"/>
              </a:rPr>
              <a:t>, "criteria": ["calm", …]},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F5F6FA"/>
                </a:solidFill>
                <a:latin typeface="Consolas"/>
              </a:rPr>
              <a:t>    "urgent": {</a:t>
            </a:r>
            <a:r>
              <a:rPr sz="1150" b="0" i="0">
                <a:solidFill>
                  <a:srgbClr val="FBBF24"/>
                </a:solidFill>
                <a:latin typeface="Consolas"/>
              </a:rPr>
              <a:t>"type": "noul"</a:t>
            </a:r>
            <a:r>
              <a:rPr sz="1150" b="0" i="0">
                <a:solidFill>
                  <a:srgbClr val="F5F6FA"/>
                </a:solidFill>
                <a:latin typeface="Consolas"/>
              </a:rPr>
              <a:t>, "instructions": "Urgent?"} } }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34D399"/>
                </a:solidFill>
                <a:latin typeface="Consolas"/>
              </a:rPr>
              <a:t>→ team = billing (.84) · mood = 1.04 · urgent = 0.999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931920"/>
            <a:ext cx="5468112" cy="2514600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28232" y="4005072"/>
            <a:ext cx="52120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5F6FA"/>
                </a:solidFill>
                <a:latin typeface="Segoe UI Semibold"/>
              </a:rPr>
              <a:t>Where it fits: around the LLM in the agent loop</a:t>
            </a:r>
            <a:r>
              <a:rPr sz="1150" b="0" i="0">
                <a:solidFill>
                  <a:srgbClr val="A3A9BC"/>
                </a:solidFill>
                <a:latin typeface="Segoe UI"/>
              </a:rPr>
              <a:t>  (LangChain)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4370832"/>
            <a:ext cx="5166360" cy="2011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34D399"/>
                </a:solidFill>
                <a:latin typeface="Segoe UI Semibold"/>
              </a:rPr>
              <a:t>▸  </a:t>
            </a:r>
            <a:r>
              <a:rPr sz="1150" b="0" i="0">
                <a:solidFill>
                  <a:srgbClr val="F5F6FA"/>
                </a:solidFill>
                <a:latin typeface="Segoe UI Semibold"/>
              </a:rPr>
              <a:t>Model routing.  </a:t>
            </a:r>
            <a:r>
              <a:rPr sz="1150" b="0" i="0">
                <a:solidFill>
                  <a:srgbClr val="A3A9BC"/>
                </a:solidFill>
                <a:latin typeface="Segoe UI"/>
              </a:rPr>
              <a:t>Pick the cheapest LLM that can handle each request, almost instantly.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34D399"/>
                </a:solidFill>
                <a:latin typeface="Segoe UI Semibold"/>
              </a:rPr>
              <a:t>▸  </a:t>
            </a:r>
            <a:r>
              <a:rPr sz="1150" b="0" i="0">
                <a:solidFill>
                  <a:srgbClr val="F5F6FA"/>
                </a:solidFill>
                <a:latin typeface="Segoe UI Semibold"/>
              </a:rPr>
              <a:t>Auto mode.  </a:t>
            </a:r>
            <a:r>
              <a:rPr sz="1150" b="0" i="0">
                <a:solidFill>
                  <a:srgbClr val="A3A9BC"/>
                </a:solidFill>
                <a:latin typeface="Segoe UI"/>
              </a:rPr>
              <a:t>Classify every tool call (delete DB, mass send) and block risky ones before they run - fast enough to keep it switched on.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34D399"/>
                </a:solidFill>
                <a:latin typeface="Segoe UI Semibold"/>
              </a:rPr>
              <a:t>▸  </a:t>
            </a:r>
            <a:r>
              <a:rPr sz="1150" b="0" i="0">
                <a:solidFill>
                  <a:srgbClr val="F5F6FA"/>
                </a:solidFill>
                <a:latin typeface="Segoe UI Semibold"/>
              </a:rPr>
              <a:t>Jev-as-a-judge.  </a:t>
            </a:r>
            <a:r>
              <a:rPr sz="1150" b="0" i="0">
                <a:solidFill>
                  <a:srgbClr val="A3A9BC"/>
                </a:solidFill>
                <a:latin typeface="Segoe UI"/>
              </a:rPr>
              <a:t>Score agent answers against a rubric (correct? grounded? cited?) for online evals: cheaper, faster and more consistent than LLM-as-judge.</a:t>
            </a:r>
          </a:p>
        </p:txBody>
      </p:sp>
      <p:sp>
        <p:nvSpPr>
          <p:cNvPr id="29" name="TextBox 28">
            <a:hlinkClick r:id="rId2"/>
          </p:cNvPr>
          <p:cNvSpPr txBox="1"/>
          <p:nvPr/>
        </p:nvSpPr>
        <p:spPr>
          <a:xfrm>
            <a:off x="6428232" y="6126480"/>
            <a:ext cx="52120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 u="sng">
                <a:solidFill>
                  <a:srgbClr val="A3A9BC"/>
                </a:solidFill>
                <a:latin typeface="Segoe UI"/>
              </a:rPr>
              <a:t>Video: “Building a Harness with Jev” – LangChain  ·  pip install langchain-typesafe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D3EE"/>
                </a:solidFill>
                <a:latin typeface="Segoe UI Semibold"/>
              </a:rPr>
              <a:t>FOR MARKETING SOFTWARE  ·  3 /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F5F6FA"/>
                </a:solidFill>
                <a:latin typeface="Segoe UI Semibold"/>
              </a:rPr>
              <a:t>Thousands of tiny marketing decisions, in milliseconds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7086598" cy="35387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874519"/>
                <a:gridCol w="3977639"/>
                <a:gridCol w="1234440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3A9BC"/>
                          </a:solidFill>
                          <a:latin typeface="Segoe UI Semibold"/>
                        </a:rPr>
                        <a:t>Use case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2428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3A9BC"/>
                          </a:solidFill>
                          <a:latin typeface="Segoe UI Semibold"/>
                        </a:rPr>
                        <a:t>Question Jev answers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2428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3A9BC"/>
                          </a:solidFill>
                          <a:latin typeface="Segoe UI Semibold"/>
                        </a:rPr>
                        <a:t>Primitive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24283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F5F6FA"/>
                          </a:solidFill>
                          <a:latin typeface="Segoe UI Semibold"/>
                        </a:rPr>
                        <a:t>Lead scoring &amp; routing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A3A9BC"/>
                          </a:solidFill>
                          <a:latin typeface="Segoe UI"/>
                        </a:rPr>
                        <a:t>How well does the lead fit our ICP? How ready to buy? Who owns it?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D3EE"/>
                          </a:solidFill>
                          <a:latin typeface="Segoe UI Semibold"/>
                        </a:rPr>
                        <a:t>Score + Choice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1A1D2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F5F6FA"/>
                          </a:solidFill>
                          <a:latin typeface="Segoe UI Semibold"/>
                        </a:rPr>
                        <a:t>Campaign reply triage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A3A9BC"/>
                          </a:solidFill>
                          <a:latin typeface="Segoe UI"/>
                        </a:rPr>
                        <a:t>Meeting, not now, unsubscribe, out of office, wrong person?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E040FB"/>
                          </a:solidFill>
                          <a:latin typeface="Segoe UI Semibold"/>
                        </a:rPr>
                        <a:t>Choice + Noul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0F111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F5F6FA"/>
                          </a:solidFill>
                          <a:latin typeface="Segoe UI Semibold"/>
                        </a:rPr>
                        <a:t>Search terms &amp; negatives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A3A9BC"/>
                          </a:solidFill>
                          <a:latin typeface="Segoe UI"/>
                        </a:rPr>
                        <a:t>Buyer, researcher, job seeker, competitor or junk?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E040FB"/>
                          </a:solidFill>
                          <a:latin typeface="Segoe UI Semibold"/>
                        </a:rPr>
                        <a:t>Choice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1A1D2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F5F6FA"/>
                          </a:solidFill>
                          <a:latin typeface="Segoe UI Semibold"/>
                        </a:rPr>
                        <a:t>Ad creative tagging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A3A9BC"/>
                          </a:solidFill>
                          <a:latin typeface="Segoe UI"/>
                        </a:rPr>
                        <a:t>Hook, format, offer, awareness stage? (724 ads in 40 s ≈ $0.09)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E040FB"/>
                          </a:solidFill>
                          <a:latin typeface="Segoe UI Semibold"/>
                        </a:rPr>
                        <a:t>Choice ×4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0F111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F5F6FA"/>
                          </a:solidFill>
                          <a:latin typeface="Segoe UI Semibold"/>
                        </a:rPr>
                        <a:t>SEO internal linking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A3A9BC"/>
                          </a:solidFill>
                          <a:latin typeface="Segoe UI"/>
                        </a:rPr>
                        <a:t>Is there an honest reason to link page A to page B?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FBBF24"/>
                          </a:solidFill>
                          <a:latin typeface="Segoe UI Semibold"/>
                        </a:rPr>
                        <a:t>Noul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1A1D2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F5F6FA"/>
                          </a:solidFill>
                          <a:latin typeface="Segoe UI Semibold"/>
                        </a:rPr>
                        <a:t>Social listening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A3A9BC"/>
                          </a:solidFill>
                          <a:latin typeface="Segoe UI"/>
                        </a:rPr>
                        <a:t>Engagement bait? Sentiment? Complaint, question or churn?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FBBF24"/>
                          </a:solidFill>
                          <a:latin typeface="Segoe UI Semibold"/>
                        </a:rPr>
                        <a:t>Noul + Score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0F111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F5F6FA"/>
                          </a:solidFill>
                          <a:latin typeface="Segoe UI Semibold"/>
                        </a:rPr>
                        <a:t>Content QA gate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A3A9BC"/>
                          </a:solidFill>
                          <a:latin typeface="Segoe UI"/>
                        </a:rPr>
                        <a:t>Does this draft meet each of the 20 checklist points?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FBBF24"/>
                          </a:solidFill>
                          <a:latin typeface="Segoe UI Semibold"/>
                        </a:rPr>
                        <a:t>Noul ×20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1A1D2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F5F6FA"/>
                          </a:solidFill>
                          <a:latin typeface="Segoe UI Semibold"/>
                        </a:rPr>
                        <a:t>AI assistant harness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A3A9BC"/>
                          </a:solidFill>
                          <a:latin typeface="Segoe UI"/>
                        </a:rPr>
                        <a:t>Fast or powerful LLM? Is this tool call risky? Is the claim grounded?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E040FB"/>
                          </a:solidFill>
                          <a:latin typeface="Segoe UI Semibold"/>
                        </a:rPr>
                        <a:t>Choice + Noul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0F1117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yt_I34qxJjyms0.jp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280160"/>
            <a:ext cx="3959352" cy="2227136"/>
          </a:xfrm>
          <a:prstGeom prst="rect">
            <a:avLst/>
          </a:prstGeom>
          <a:ln w="12700">
            <a:solidFill>
              <a:srgbClr val="33384A"/>
            </a:solidFill>
          </a:ln>
        </p:spPr>
      </p:pic>
      <p:sp>
        <p:nvSpPr>
          <p:cNvPr id="6" name="TextBox 5">
            <a:hlinkClick r:id="rId3"/>
          </p:cNvPr>
          <p:cNvSpPr txBox="1"/>
          <p:nvPr/>
        </p:nvSpPr>
        <p:spPr>
          <a:xfrm>
            <a:off x="7772400" y="3529584"/>
            <a:ext cx="3977639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 u="sng">
                <a:solidFill>
                  <a:srgbClr val="A3A9BC"/>
                </a:solidFill>
                <a:latin typeface="Segoe UI"/>
              </a:rPr>
              <a:t>Video: “Jev Is WAY More Powerful Than We Thought” – Pursuing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3840480"/>
            <a:ext cx="3977639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F5F6FA"/>
                </a:solidFill>
                <a:latin typeface="Segoe UI Semibold"/>
              </a:rPr>
              <a:t>SEO: </a:t>
            </a:r>
            <a:r>
              <a:rPr sz="1050" b="0" i="0">
                <a:solidFill>
                  <a:srgbClr val="A3A9BC"/>
                </a:solidFill>
                <a:latin typeface="Segoe UI"/>
              </a:rPr>
              <a:t>586 pages in 45 s, 584 links placed, 139 rejected, $0.21 (Claude Opus 5: 21 pages, $1.43)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F5F6FA"/>
                </a:solidFill>
                <a:latin typeface="Segoe UI Semibold"/>
              </a:rPr>
              <a:t>Also: </a:t>
            </a:r>
            <a:r>
              <a:rPr sz="1050" b="0" i="0">
                <a:solidFill>
                  <a:srgbClr val="A3A9BC"/>
                </a:solidFill>
                <a:latin typeface="Segoe UI"/>
              </a:rPr>
              <a:t>driving sim, trolley problem 100/100, voice-controlled drawing app, live slop detector, Laya playing Snake at ~60 decisions/s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5F6FA"/>
                </a:solidFill>
                <a:latin typeface="Segoe UI Semibold"/>
              </a:rPr>
              <a:t>The decide-then-act loop</a:t>
            </a:r>
            <a:r>
              <a:rPr sz="1200" b="0" i="0">
                <a:solidFill>
                  <a:srgbClr val="A3A9BC"/>
                </a:solidFill>
                <a:latin typeface="Segoe UI"/>
              </a:rPr>
              <a:t>  ·  same architecture for every row above</a:t>
            </a:r>
          </a:p>
        </p:txBody>
      </p:sp>
      <p:sp>
        <p:nvSpPr>
          <p:cNvPr id="9" name="Pentagon 8"/>
          <p:cNvSpPr/>
          <p:nvPr/>
        </p:nvSpPr>
        <p:spPr>
          <a:xfrm>
            <a:off x="457200" y="5285232"/>
            <a:ext cx="2011680" cy="749808"/>
          </a:xfrm>
          <a:prstGeom prst="homePlate">
            <a:avLst/>
          </a:prstGeom>
          <a:solidFill>
            <a:srgbClr val="24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F5F6FA"/>
                </a:solidFill>
                <a:latin typeface="Segoe UI Semibold"/>
              </a:rPr>
              <a:t>Collect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F5F6FA"/>
                </a:solidFill>
                <a:latin typeface="Segoe UI"/>
              </a:rPr>
              <a:t>rows via API / code</a:t>
            </a:r>
          </a:p>
        </p:txBody>
      </p:sp>
      <p:sp>
        <p:nvSpPr>
          <p:cNvPr id="10" name="Chevron 9"/>
          <p:cNvSpPr/>
          <p:nvPr/>
        </p:nvSpPr>
        <p:spPr>
          <a:xfrm>
            <a:off x="2340864" y="5285232"/>
            <a:ext cx="2011680" cy="749808"/>
          </a:xfrm>
          <a:prstGeom prst="chevron">
            <a:avLst/>
          </a:prstGeom>
          <a:solidFill>
            <a:srgbClr val="24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F5F6FA"/>
                </a:solidFill>
                <a:latin typeface="Segoe UI Semibold"/>
              </a:rPr>
              <a:t>Shortlist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F5F6FA"/>
                </a:solidFill>
                <a:latin typeface="Segoe UI"/>
              </a:rPr>
              <a:t>rules or embeddings</a:t>
            </a:r>
          </a:p>
        </p:txBody>
      </p:sp>
      <p:sp>
        <p:nvSpPr>
          <p:cNvPr id="11" name="Chevron 10"/>
          <p:cNvSpPr/>
          <p:nvPr/>
        </p:nvSpPr>
        <p:spPr>
          <a:xfrm>
            <a:off x="4224528" y="5285232"/>
            <a:ext cx="2011680" cy="749808"/>
          </a:xfrm>
          <a:prstGeom prst="chevron">
            <a:avLst/>
          </a:prstGeom>
          <a:solidFill>
            <a:srgbClr val="E04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0F1117"/>
                </a:solidFill>
                <a:latin typeface="Segoe UI Semibold"/>
              </a:rPr>
              <a:t>Ask Jev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0F1117"/>
                </a:solidFill>
                <a:latin typeface="Segoe UI"/>
              </a:rPr>
              <a:t>Choice · Score · Noul</a:t>
            </a:r>
          </a:p>
        </p:txBody>
      </p:sp>
      <p:sp>
        <p:nvSpPr>
          <p:cNvPr id="12" name="Chevron 11"/>
          <p:cNvSpPr/>
          <p:nvPr/>
        </p:nvSpPr>
        <p:spPr>
          <a:xfrm>
            <a:off x="6108192" y="5285232"/>
            <a:ext cx="2011680" cy="749808"/>
          </a:xfrm>
          <a:prstGeom prst="chevron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0F1117"/>
                </a:solidFill>
                <a:latin typeface="Segoe UI Semibold"/>
              </a:rPr>
              <a:t>Threshold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0F1117"/>
                </a:solidFill>
                <a:latin typeface="Segoe UI"/>
              </a:rPr>
              <a:t>auto · review · drop</a:t>
            </a:r>
          </a:p>
        </p:txBody>
      </p:sp>
      <p:sp>
        <p:nvSpPr>
          <p:cNvPr id="13" name="Chevron 12"/>
          <p:cNvSpPr/>
          <p:nvPr/>
        </p:nvSpPr>
        <p:spPr>
          <a:xfrm>
            <a:off x="7991856" y="5285232"/>
            <a:ext cx="2011680" cy="749808"/>
          </a:xfrm>
          <a:prstGeom prst="chevron">
            <a:avLst/>
          </a:prstGeom>
          <a:solidFill>
            <a:srgbClr val="24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F5F6FA"/>
                </a:solidFill>
                <a:latin typeface="Segoe UI Semibold"/>
              </a:rPr>
              <a:t>LLM writes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F5F6FA"/>
                </a:solidFill>
                <a:latin typeface="Segoe UI"/>
              </a:rPr>
              <a:t>only what passed</a:t>
            </a:r>
          </a:p>
        </p:txBody>
      </p:sp>
      <p:sp>
        <p:nvSpPr>
          <p:cNvPr id="14" name="Chevron 13"/>
          <p:cNvSpPr/>
          <p:nvPr/>
        </p:nvSpPr>
        <p:spPr>
          <a:xfrm>
            <a:off x="9875520" y="5285232"/>
            <a:ext cx="2011680" cy="749808"/>
          </a:xfrm>
          <a:prstGeom prst="chevron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0F1117"/>
                </a:solidFill>
                <a:latin typeface="Segoe UI Semibold"/>
              </a:rPr>
              <a:t>Verify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0F1117"/>
                </a:solidFill>
                <a:latin typeface="Segoe UI"/>
              </a:rPr>
              <a:t>Jev checks the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44768"/>
            <a:ext cx="1133856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F87171"/>
                </a:solidFill>
                <a:latin typeface="Segoe UI Semibold"/>
              </a:rPr>
              <a:t>Limits: </a:t>
            </a:r>
            <a:r>
              <a:rPr sz="1100" b="0" i="0">
                <a:solidFill>
                  <a:srgbClr val="A3A9BC"/>
                </a:solidFill>
                <a:latin typeface="Segoe UI"/>
              </a:rPr>
              <a:t>no rationale (a number, not a reason) · closed answer sets only · triage-grade accuracy (vendor benchmark ~68% vs ~73% for frontier LLMs) · early access, price may change. If the answer must be written, it belongs to an LLM.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D3EE"/>
                </a:solidFill>
                <a:latin typeface="Segoe UI Semibold"/>
              </a:rPr>
              <a:t>HANDS-ON  ·  4 /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F5F6FA"/>
                </a:solidFill>
                <a:latin typeface="Segoe UI Semibold"/>
              </a:rPr>
              <a:t>We built it: 6 samples running locally on Laya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15568"/>
            <a:ext cx="112471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A3A9BC"/>
                </a:solidFill>
                <a:latin typeface="Segoe UI"/>
              </a:rPr>
              <a:t>Laya: open-source (Apache-2.0), Jev-compatible, 421M params, same /v1/systemone shape. Runs on a laptop CPU.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7040880" cy="32004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84048"/>
                <a:gridCol w="1691640"/>
                <a:gridCol w="1554480"/>
                <a:gridCol w="341071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A3A9BC"/>
                          </a:solidFill>
                          <a:latin typeface="Segoe UI Semibold"/>
                        </a:rPr>
                        <a:t>#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2428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A3A9BC"/>
                          </a:solidFill>
                          <a:latin typeface="Segoe UI Semibold"/>
                        </a:rPr>
                        <a:t>Sample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2428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A3A9BC"/>
                          </a:solidFill>
                          <a:latin typeface="Segoe UI Semibold"/>
                        </a:rPr>
                        <a:t>Primitives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2428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A3A9BC"/>
                          </a:solidFill>
                          <a:latin typeface="Segoe UI Semibold"/>
                        </a:rPr>
                        <a:t>What happened on our laptop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24283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3A9BC"/>
                          </a:solidFill>
                          <a:latin typeface="Segoe UI Semibold"/>
                        </a:rPr>
                        <a:t>01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5F6FA"/>
                          </a:solidFill>
                          <a:latin typeface="Segoe UI Semibold"/>
                        </a:rPr>
                        <a:t>Lead scoring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040FB"/>
                          </a:solidFill>
                          <a:latin typeface="Segoe UI Semibold"/>
                        </a:rPr>
                        <a:t>Choice + Score + Noul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3A9BC"/>
                          </a:solidFill>
                          <a:latin typeface="Segoe UI"/>
                        </a:rPr>
                        <a:t>VP with budget → 86/100, enterprise AE; student &amp; agency dropped; possible competitor → human check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1A1D2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3A9BC"/>
                          </a:solidFill>
                          <a:latin typeface="Segoe UI Semibold"/>
                        </a:rPr>
                        <a:t>02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5F6FA"/>
                          </a:solidFill>
                          <a:latin typeface="Segoe UI Semibold"/>
                        </a:rPr>
                        <a:t>Reply triage (EN/DE/CZ)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040FB"/>
                          </a:solidFill>
                          <a:latin typeface="Segoe UI Semibold"/>
                        </a:rPr>
                        <a:t>Choice + Noul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3A9BC"/>
                          </a:solidFill>
                          <a:latin typeface="Segoe UI"/>
                        </a:rPr>
                        <a:t>10/10 correct labels; 7 automated, 1 review, 2 escalated; opt-outs always suppressed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0F111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3A9BC"/>
                          </a:solidFill>
                          <a:latin typeface="Segoe UI Semibold"/>
                        </a:rPr>
                        <a:t>03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5F6FA"/>
                          </a:solidFill>
                          <a:latin typeface="Segoe UI Semibold"/>
                        </a:rPr>
                        <a:t>SEO internal linking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BBF24"/>
                          </a:solidFill>
                          <a:latin typeface="Segoe UI Semibold"/>
                        </a:rPr>
                        <a:t>Noul + Choice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3A9BC"/>
                          </a:solidFill>
                          <a:latin typeface="Segoe UI"/>
                        </a:rPr>
                        <a:t>36 page pairs → 18 links + anchor texts; party page gets none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1A1D2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3A9BC"/>
                          </a:solidFill>
                          <a:latin typeface="Segoe UI Semibold"/>
                        </a:rPr>
                        <a:t>04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5F6FA"/>
                          </a:solidFill>
                          <a:latin typeface="Segoe UI Semibold"/>
                        </a:rPr>
                        <a:t>Social feed monitor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BBF24"/>
                          </a:solidFill>
                          <a:latin typeface="Segoe UI Semibold"/>
                        </a:rPr>
                        <a:t>Noul + Score + Choice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3A9BC"/>
                          </a:solidFill>
                          <a:latin typeface="Segoe UI"/>
                        </a:rPr>
                        <a:t>3/3 slop posts hidden; complaint → support, cancellation → retention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0F111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3A9BC"/>
                          </a:solidFill>
                          <a:latin typeface="Segoe UI Semibold"/>
                        </a:rPr>
                        <a:t>05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5F6FA"/>
                          </a:solidFill>
                          <a:latin typeface="Segoe UI Semibold"/>
                        </a:rPr>
                        <a:t>Command bar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040FB"/>
                          </a:solidFill>
                          <a:latin typeface="Segoe UI Semibold"/>
                        </a:rPr>
                        <a:t>Choice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3A9BC"/>
                          </a:solidFill>
                          <a:latin typeface="Segoe UI"/>
                        </a:rPr>
                        <a:t>“cut meta prospecting in half” → change_budget(…, 50%); vague → “did you mean…?”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1A1D2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3A9BC"/>
                          </a:solidFill>
                          <a:latin typeface="Segoe UI Semibold"/>
                        </a:rPr>
                        <a:t>06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5F6FA"/>
                          </a:solidFill>
                          <a:latin typeface="Segoe UI Semibold"/>
                        </a:rPr>
                        <a:t>Agent harness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040FB"/>
                          </a:solidFill>
                          <a:latin typeface="Segoe UI Semibold"/>
                        </a:rPr>
                        <a:t>Choice + Noul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3A9BC"/>
                          </a:solidFill>
                          <a:latin typeface="Segoe UI"/>
                        </a:rPr>
                        <a:t>48% LLM cost saved by routing; 6/6 tool calls gated; fake claims caught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33384A"/>
                      </a:solidFill>
                      <a:prstDash val="solid"/>
                    </a:lnL>
                    <a:lnR w="9525" cap="flat" cmpd="sng" algn="ctr">
                      <a:solidFill>
                        <a:srgbClr val="33384A"/>
                      </a:solidFill>
                      <a:prstDash val="solid"/>
                    </a:lnR>
                    <a:lnT w="9525" cap="flat" cmpd="sng" algn="ctr">
                      <a:solidFill>
                        <a:srgbClr val="33384A"/>
                      </a:solidFill>
                      <a:prstDash val="solid"/>
                    </a:lnT>
                    <a:lnB w="9525" cap="flat" cmpd="sng" algn="ctr">
                      <a:solidFill>
                        <a:srgbClr val="33384A"/>
                      </a:solidFill>
                      <a:prstDash val="solid"/>
                    </a:lnB>
                    <a:solidFill>
                      <a:srgbClr val="0F1117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terminal_06_agent_har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645920"/>
            <a:ext cx="4005072" cy="3111552"/>
          </a:xfrm>
          <a:prstGeom prst="rect">
            <a:avLst/>
          </a:prstGeom>
          <a:ln w="12700">
            <a:solidFill>
              <a:srgbClr val="33384A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726679" y="4784904"/>
            <a:ext cx="400507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A3A9BC"/>
                </a:solidFill>
                <a:latin typeface="Segoe UI"/>
              </a:rPr>
              <a:t>Real output of samples/06_agent_harness.py (excerpt)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983480"/>
            <a:ext cx="7040880" cy="1508760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21792" y="5047488"/>
            <a:ext cx="67665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34D399"/>
                </a:solidFill>
                <a:latin typeface="Segoe UI Semibold"/>
              </a:rPr>
              <a:t>What we learned (zero-shot, no fine-tuning)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5349240"/>
            <a:ext cx="6812280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50" b="0" i="0">
                <a:solidFill>
                  <a:srgbClr val="34D399"/>
                </a:solidFill>
                <a:latin typeface="Segoe UI Semibold"/>
              </a:rPr>
              <a:t>▸  </a:t>
            </a:r>
            <a:r>
              <a:rPr sz="1050" b="0" i="0">
                <a:solidFill>
                  <a:srgbClr val="F5F6FA"/>
                </a:solidFill>
                <a:latin typeface="Segoe UI Semibold"/>
              </a:rPr>
              <a:t>Atomic questions win: </a:t>
            </a:r>
            <a:r>
              <a:rPr sz="1050" b="0" i="0">
                <a:solidFill>
                  <a:srgbClr val="A3A9BC"/>
                </a:solidFill>
                <a:latin typeface="Segoe UI"/>
              </a:rPr>
              <a:t>one persona Choice beat four disqualifier Nouls.</a:t>
            </a:r>
          </a:p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50" b="0" i="0">
                <a:solidFill>
                  <a:srgbClr val="34D399"/>
                </a:solidFill>
                <a:latin typeface="Segoe UI Semibold"/>
              </a:rPr>
              <a:t>▸  </a:t>
            </a:r>
            <a:r>
              <a:rPr sz="1050" b="0" i="0">
                <a:solidFill>
                  <a:srgbClr val="F5F6FA"/>
                </a:solidFill>
                <a:latin typeface="Segoe UI Semibold"/>
              </a:rPr>
              <a:t>Data and business rules stay in code; </a:t>
            </a:r>
            <a:r>
              <a:rPr sz="1050" b="0" i="0">
                <a:solidFill>
                  <a:srgbClr val="A3A9BC"/>
                </a:solidFill>
                <a:latin typeface="Segoe UI"/>
              </a:rPr>
              <a:t>the model only judges language.</a:t>
            </a:r>
          </a:p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50" b="0" i="0">
                <a:solidFill>
                  <a:srgbClr val="34D399"/>
                </a:solidFill>
                <a:latin typeface="Segoe UI Semibold"/>
              </a:rPr>
              <a:t>▸  </a:t>
            </a:r>
            <a:r>
              <a:rPr sz="1050" b="0" i="0">
                <a:solidFill>
                  <a:srgbClr val="F5F6FA"/>
                </a:solidFill>
                <a:latin typeface="Segoe UI Semibold"/>
              </a:rPr>
              <a:t>Wording matters: </a:t>
            </a:r>
            <a:r>
              <a:rPr sz="1050" b="0" i="0">
                <a:solidFill>
                  <a:srgbClr val="A3A9BC"/>
                </a:solidFill>
                <a:latin typeface="Segoe UI"/>
              </a:rPr>
              <a:t>test 3–5 phrasings on a small labelled set before you trust a threshold.</a:t>
            </a:r>
          </a:p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50" b="0" i="0">
                <a:solidFill>
                  <a:srgbClr val="34D399"/>
                </a:solidFill>
                <a:latin typeface="Segoe UI Semibold"/>
              </a:rPr>
              <a:t>▸  </a:t>
            </a:r>
            <a:r>
              <a:rPr sz="1050" b="0" i="0">
                <a:solidFill>
                  <a:srgbClr val="F5F6FA"/>
                </a:solidFill>
                <a:latin typeface="Segoe UI Semibold"/>
              </a:rPr>
              <a:t>Gate on confidence, fail safe: </a:t>
            </a:r>
            <a:r>
              <a:rPr sz="1050" b="0" i="0">
                <a:solidFill>
                  <a:srgbClr val="A3A9BC"/>
                </a:solidFill>
                <a:latin typeface="Segoe UI"/>
              </a:rPr>
              <a:t>uncertain → human or “did you mean…?”. CPU ≈ 0.3 s/question, GPU ≈ 33 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5123232"/>
            <a:ext cx="4005072" cy="1369007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882127" y="5187240"/>
            <a:ext cx="3749039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22D3EE"/>
                </a:solidFill>
                <a:latin typeface="Segoe UI Semibold"/>
              </a:rPr>
              <a:t>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7" y="5488992"/>
            <a:ext cx="3749039" cy="957527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F5F6FA"/>
                </a:solidFill>
                <a:latin typeface="Segoe UI"/>
              </a:rPr>
              <a:t>1. Pick one pilot: reply triage or lead scoring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F5F6FA"/>
                </a:solidFill>
                <a:latin typeface="Segoe UI"/>
              </a:rPr>
              <a:t>2. Label 300–500 real examples, set thresholds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F5F6FA"/>
                </a:solidFill>
                <a:latin typeface="Segoe UI"/>
              </a:rPr>
              <a:t>3. Compare Laya (fine-tuned) vs Jev API on it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F5F6FA"/>
                </a:solidFill>
                <a:latin typeface="Segoe UI"/>
              </a:rPr>
              <a:t>4. Ship behind a confidence gate + human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Jev - AI that decides, not chats</dc:title>
  <dc:subject>Team briefing: Jev, System One models and marketing software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