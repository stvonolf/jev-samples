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TYPESAFE'S OWN POSITIONING (typesafe.ai): "an AI lab building machine-native intelligence infrastructure for automation". "We took the opposite research direction - not chat": RLHF optimises for human preference and produces superhuman instruction followers, but also mode dropping, overconfidence and a lack of reliability, so LLMs need humans in the loop. System One models are built to be used natively by machines, with a new architecture, a new sampler and a new training algorithm (RLCD). Taglines: "Decisions, not strings", "calibrated confidence", "more like code: reliable, fast, type-safe". Headline claim: 193.6x faster and 444.6x cheaper on workflows for System One tasks (their demo: $0.000081 in 0.114 s vs an LLM at $0.013880 in 8.566 s); $42 per billion input tokens (= $0.042 per million), "238x lower input price than Claude Fable 5.1". They also claim "zero hallucinations" - read that as "always a valid typed answer", not "always right". All vendor-reported.</a:t>
            </a:r>
          </a:p>
          <a:p/>
          <a:p>
            <a:r>
              <a:t>SYSTEM ONE (docs.typesafe.ai/concepts/system-one): text input only (strings, JSON objects, arrays of text) - images, audio and video are not supported yet. Calibration is measured across groups of predictions; it does not guarantee that a single answer is correct. No replies, no code, no explanations of reasoning.</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video 1 quotes 40-200x faster at 70-500 ms end-to-end; LangChain quotes 20-200x faster and 40-400x cheaper on classification-style tasks; TypeSafe's homepage says 193.6x faster / 444.6x cheaper on System One workflows.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CALL (support ticket from the docs / LangChain video): POST /v1/systemone with state "Hi, I've been trying to connect my Stripe account for 3 days and it keeps failing. I'm losing sales. Please help ASAP." and three questions in one request: team (choice: billing / technical / ...), mood (score: calm / frustrated / very angry) and urgent (noul). Answers: team = billing (p 0.84, confidence 0.60), mood = 1.04 (frustrated, not very angry), urgent = 0.999.</a:t>
            </a:r>
          </a:p>
          <a:p/>
          <a:p/>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SYSTEM ONE WORKFLOW (docs.typesafe.ai/concepts/system-one) - refund request: 1) build a state with the customer's message, the relevant transactions and the refund policy; 2) ask independent questions together (refund requested? evidence of a duplicate charge? does the policy support a refund?); 3) combine the answers with deterministic checks in code and route the case for action or review. Confidence decides when to act and when to escalate to a person or a reasoning model. Inputs are text only (strings, JSON objects, arrays of text); calibration holds across groups of predictions, not for every single answer.</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PER SAMPLE (laptop CPU, zero-shot Laya):</a:t>
            </a:r>
          </a:p>
          <a:p>
            <a:r>
              <a:t>- 01 Lead scoring (Choice + Score + Noul): VP with approved budget -&gt; 86/100 -&gt; enterprise AE; student and SEO agency disqualified; a possible competitor (p 0.49) goes to a human check instead of being dropped.</a:t>
            </a:r>
          </a:p>
          <a:p>
            <a:r>
              <a:t>- 02 Campaign reply triage, EN/DE/CZ (Choice + Noul): 10/10 correct labels; 7 automated, 1 review, 2 escalated; opt-out requests always suppressed (compliance rule in code).</a:t>
            </a:r>
          </a:p>
          <a:p>
            <a:r>
              <a:t>- 03 SEO internal linking (Noul + Choice): 36 page pairs -&gt; 18 links with anchor texts, 54 rejected; the summer-party page gets no links.</a:t>
            </a:r>
          </a:p>
          <a:p>
            <a:r>
              <a:t>- 04 Social feed monitor (Noul + Score + Choice): 3/3 slop posts hidden; complaint -&gt; support, cancellation -&gt; retention, question -&gt; sales, feature request -&gt; product.</a:t>
            </a:r>
          </a:p>
          <a:p>
            <a:r>
              <a:t>- 05 Command bar (Choice): "cut spend on meta prospecting in half" -&gt; change_budget(meta_prospecting, decrease, 50%); vague commands get "did you mean ...?".</a:t>
            </a:r>
          </a:p>
          <a:p>
            <a:r>
              <a:t>- 06 Agent harness (Choice + Noul): routing saves 48% of LLM cost; 6/6 tool calls classified correctly (allow / ask human / block); Jev-as-a-judge catches hype and two invented claims.</a:t>
            </a:r>
          </a:p>
          <a:p>
            <a:r>
              <a:t>- 07 UI demos: trolley x100 (Choice), creative emoji pile (Noul), "How hot is this message?" (Score) - next slide.</a:t>
            </a:r>
          </a:p>
          <a:p/>
          <a:p>
            <a:r>
              <a:t>NEXT STEPS: 1) pick one pilot (reply triage or lead scoring); 2) label 300-500 real examples and set thresholds on them; 3) compare Laya (fine-tuned) vs the Jev API on that set; 4) ship behind a confidence gate with human review for the middle band.</a:t>
            </a:r>
          </a:p>
          <a:p/>
          <a:p>
            <a:r>
              <a:t>LEARNINGS IN DETAIL: atomic questions win (one persona Choice beat four disqualifier Nouls); numbers, business rules and routing stay in code; give the model only the text it needs; wording matters - we compared 3-5 phrasings per question on small labelled sets; gate on confidence and fail safe (human, powerful LLM or a clarification question); compliance rules override the model; CPU ~0.3 s per question vs ~33 ms on a T4 GPU.</a:t>
            </a:r>
          </a:p>
          <a:p/>
          <a:p/>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VE5dsWll06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4.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5.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6.png"/><Relationship Id="rId1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400800" cy="1188720"/>
          </a:xfrm>
          <a:prstGeom prst="rect">
            <a:avLst/>
          </a:prstGeom>
          <a:noFill/>
        </p:spPr>
        <p:txBody>
          <a:bodyPr wrap="square" anchor="t" lIns="36576" rIns="36576" tIns="36576" bIns="36576">
            <a:spAutoFit/>
          </a:bodyPr>
          <a:lstStyle/>
          <a:p>
            <a:pPr algn="l">
              <a:lnSpc>
                <a:spcPct val="95000"/>
              </a:lnSpc>
              <a:spcAft>
                <a:spcPts val="0"/>
              </a:spcAft>
            </a:pPr>
            <a:r>
              <a:rPr sz="4000" b="0" i="0">
                <a:solidFill>
                  <a:srgbClr val="F5F6FA"/>
                </a:solidFill>
                <a:latin typeface="Segoe UI Semibold"/>
              </a:rPr>
              <a:t>Jev: AI that </a:t>
            </a:r>
            <a:r>
              <a:rPr sz="4000" b="0" i="0">
                <a:solidFill>
                  <a:srgbClr val="E040FB"/>
                </a:solidFill>
                <a:latin typeface="Segoe UI Semibold"/>
              </a:rPr>
              <a:t>decides</a:t>
            </a:r>
            <a:r>
              <a:rPr sz="4000" b="0" i="0">
                <a:solidFill>
                  <a:srgbClr val="F5F6FA"/>
                </a:solidFill>
                <a:latin typeface="Segoe UI Semibold"/>
              </a:rPr>
              <a:t>,
not chats</a:t>
            </a:r>
          </a:p>
        </p:txBody>
      </p:sp>
      <p:sp>
        <p:nvSpPr>
          <p:cNvPr id="4" name="TextBox 3"/>
          <p:cNvSpPr txBox="1"/>
          <p:nvPr/>
        </p:nvSpPr>
        <p:spPr>
          <a:xfrm>
            <a:off x="457200" y="1965960"/>
            <a:ext cx="6217920" cy="45720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A3A9BC"/>
                </a:solidFill>
                <a:latin typeface="Segoe UI"/>
              </a:rPr>
              <a:t>TypeSafe AI's first “System One” model</a:t>
            </a:r>
          </a:p>
        </p:txBody>
      </p:sp>
      <p:sp>
        <p:nvSpPr>
          <p:cNvPr id="5" name="TextBox 4"/>
          <p:cNvSpPr txBox="1"/>
          <p:nvPr/>
        </p:nvSpPr>
        <p:spPr>
          <a:xfrm>
            <a:off x="457200" y="2743200"/>
            <a:ext cx="6126480" cy="2651760"/>
          </a:xfrm>
          <a:prstGeom prst="rect">
            <a:avLst/>
          </a:prstGeom>
          <a:noFill/>
        </p:spPr>
        <p:txBody>
          <a:bodyPr wrap="square" anchor="t" lIns="36576" rIns="36576" tIns="36576" bIns="36576">
            <a:spAutoFit/>
          </a:bodyPr>
          <a:lstStyle/>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Text in → </a:t>
            </a:r>
            <a:r>
              <a:rPr sz="1900" b="0" i="0">
                <a:solidFill>
                  <a:srgbClr val="A3A9BC"/>
                </a:solidFill>
                <a:latin typeface="Segoe UI"/>
              </a:rPr>
              <a:t>typed decisions + probabilities out</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One parallel pass: </a:t>
            </a:r>
            <a:r>
              <a:rPr sz="1900" b="0" i="0">
                <a:solidFill>
                  <a:srgbClr val="A3A9BC"/>
                </a:solidFill>
                <a:latin typeface="Segoe UI"/>
              </a:rPr>
              <a:t>~0.1 s, ~200× faster and ~400× cheaper than an LLM*</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Fast “System 1” </a:t>
            </a:r>
            <a:r>
              <a:rPr sz="1900" b="0" i="0">
                <a:solidFill>
                  <a:srgbClr val="A3A9BC"/>
                </a:solidFill>
                <a:latin typeface="Segoe UI"/>
              </a:rPr>
              <a:t>next to the LLM's slow “System 2” - not a replacement</a:t>
            </a:r>
          </a:p>
        </p:txBody>
      </p:sp>
      <p:sp>
        <p:nvSpPr>
          <p:cNvPr id="6" name="TextBox 5"/>
          <p:cNvSpPr txBox="1"/>
          <p:nvPr/>
        </p:nvSpPr>
        <p:spPr>
          <a:xfrm>
            <a:off x="457200" y="5257800"/>
            <a:ext cx="621792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 TypeSafe's own benchmark on System One workflows</a:t>
            </a:r>
          </a:p>
        </p:txBody>
      </p:sp>
      <p:pic>
        <p:nvPicPr>
          <p:cNvPr id="7" name="Picture 6" descr="yt_vj7hysh0mOI.jpg">
            <a:hlinkClick r:id="rId3"/>
          </p:cNvPr>
          <p:cNvPicPr>
            <a:picLocks noChangeAspect="1"/>
          </p:cNvPicPr>
          <p:nvPr/>
        </p:nvPicPr>
        <p:blipFill>
          <a:blip r:embed="rId2"/>
          <a:stretch>
            <a:fillRect/>
          </a:stretch>
        </p:blipFill>
        <p:spPr>
          <a:xfrm>
            <a:off x="6903720" y="502920"/>
            <a:ext cx="4846320" cy="2726055"/>
          </a:xfrm>
          <a:prstGeom prst="rect">
            <a:avLst/>
          </a:prstGeom>
          <a:ln w="12700">
            <a:solidFill>
              <a:srgbClr val="33384A"/>
            </a:solidFill>
          </a:ln>
        </p:spPr>
      </p:pic>
      <p:sp>
        <p:nvSpPr>
          <p:cNvPr id="8" name="TextBox 7">
            <a:hlinkClick r:id="rId3"/>
          </p:cNvPr>
          <p:cNvSpPr txBox="1"/>
          <p:nvPr/>
        </p:nvSpPr>
        <p:spPr>
          <a:xfrm>
            <a:off x="6903720" y="3273552"/>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explained in 7min..” – Caleb Writes Code</a:t>
            </a:r>
          </a:p>
        </p:txBody>
      </p:sp>
      <p:sp>
        <p:nvSpPr>
          <p:cNvPr id="9" name="Rounded Rectangle 8"/>
          <p:cNvSpPr/>
          <p:nvPr/>
        </p:nvSpPr>
        <p:spPr>
          <a:xfrm>
            <a:off x="6903720" y="3794760"/>
            <a:ext cx="2359152" cy="1600200"/>
          </a:xfrm>
          <a:prstGeom prst="roundRect">
            <a:avLst>
              <a:gd name="adj" fmla="val 6000"/>
            </a:avLst>
          </a:prstGeom>
          <a:solidFill>
            <a:srgbClr val="1A1D27"/>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7068312"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5 s</a:t>
            </a:r>
          </a:p>
        </p:txBody>
      </p:sp>
      <p:sp>
        <p:nvSpPr>
          <p:cNvPr id="12" name="TextBox 11"/>
          <p:cNvSpPr txBox="1"/>
          <p:nvPr/>
        </p:nvSpPr>
        <p:spPr>
          <a:xfrm>
            <a:off x="7068312"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text, then parse</a:t>
            </a:r>
          </a:p>
        </p:txBody>
      </p:sp>
      <p:sp>
        <p:nvSpPr>
          <p:cNvPr id="13" name="Rounded Rectangle 12"/>
          <p:cNvSpPr/>
          <p:nvPr/>
        </p:nvSpPr>
        <p:spPr>
          <a:xfrm>
            <a:off x="9390888" y="3794760"/>
            <a:ext cx="2359152" cy="160020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55480"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5" name="TextBox 14"/>
          <p:cNvSpPr txBox="1"/>
          <p:nvPr/>
        </p:nvSpPr>
        <p:spPr>
          <a:xfrm>
            <a:off x="9555480"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0.1 s</a:t>
            </a:r>
          </a:p>
        </p:txBody>
      </p:sp>
      <p:sp>
        <p:nvSpPr>
          <p:cNvPr id="16" name="TextBox 15"/>
          <p:cNvSpPr txBox="1"/>
          <p:nvPr/>
        </p:nvSpPr>
        <p:spPr>
          <a:xfrm>
            <a:off x="9555480"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noul = 0.98</a:t>
            </a:r>
          </a:p>
        </p:txBody>
      </p:sp>
      <p:sp>
        <p:nvSpPr>
          <p:cNvPr id="17" name="TextBox 16">
            <a:hlinkClick r:id="rId4"/>
          </p:cNvPr>
          <p:cNvSpPr txBox="1"/>
          <p:nvPr/>
        </p:nvSpPr>
        <p:spPr>
          <a:xfrm>
            <a:off x="6903720" y="5486400"/>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“Is there PII in this text?” – LangChain demo</a:t>
            </a:r>
          </a:p>
        </p:txBody>
      </p:sp>
      <p:sp>
        <p:nvSpPr>
          <p:cNvPr id="18" name="TextBox 17">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Your code owns the flow - Jev answers narrow, typed questions.</a:t>
            </a:r>
          </a:p>
        </p:txBody>
      </p:sp>
      <p:sp>
        <p:nvSpPr>
          <p:cNvPr id="5" name="Rounded Rectangle 4"/>
          <p:cNvSpPr/>
          <p:nvPr/>
        </p:nvSpPr>
        <p:spPr>
          <a:xfrm>
            <a:off x="457200"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E040FB"/>
                </a:solidFill>
                <a:latin typeface="Segoe UI Semibold"/>
              </a:rPr>
              <a:t>Choice</a:t>
            </a:r>
          </a:p>
        </p:txBody>
      </p:sp>
      <p:sp>
        <p:nvSpPr>
          <p:cNvPr id="8" name="TextBox 7"/>
          <p:cNvSpPr txBox="1"/>
          <p:nvPr/>
        </p:nvSpPr>
        <p:spPr>
          <a:xfrm>
            <a:off x="658368"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Which team should handle this ticket?</a:t>
            </a:r>
          </a:p>
        </p:txBody>
      </p:sp>
      <p:sp>
        <p:nvSpPr>
          <p:cNvPr id="9" name="TextBox 8"/>
          <p:cNvSpPr txBox="1"/>
          <p:nvPr/>
        </p:nvSpPr>
        <p:spPr>
          <a:xfrm>
            <a:off x="658368"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E040FB"/>
                </a:solidFill>
                <a:latin typeface="Consolas"/>
              </a:rPr>
              <a:t>billing  (p 0.84)</a:t>
            </a:r>
          </a:p>
        </p:txBody>
      </p:sp>
      <p:sp>
        <p:nvSpPr>
          <p:cNvPr id="10" name="Rounded Rectangle 9"/>
          <p:cNvSpPr/>
          <p:nvPr/>
        </p:nvSpPr>
        <p:spPr>
          <a:xfrm>
            <a:off x="4270248"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70248" y="169164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22D3EE"/>
                </a:solidFill>
                <a:latin typeface="Segoe UI Semibold"/>
              </a:rPr>
              <a:t>Score</a:t>
            </a:r>
          </a:p>
        </p:txBody>
      </p:sp>
      <p:sp>
        <p:nvSpPr>
          <p:cNvPr id="13" name="TextBox 12"/>
          <p:cNvSpPr txBox="1"/>
          <p:nvPr/>
        </p:nvSpPr>
        <p:spPr>
          <a:xfrm>
            <a:off x="4471416"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How frustrated is the customer?</a:t>
            </a:r>
          </a:p>
        </p:txBody>
      </p:sp>
      <p:sp>
        <p:nvSpPr>
          <p:cNvPr id="14" name="TextBox 13"/>
          <p:cNvSpPr txBox="1"/>
          <p:nvPr/>
        </p:nvSpPr>
        <p:spPr>
          <a:xfrm>
            <a:off x="4471416"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22D3EE"/>
                </a:solidFill>
                <a:latin typeface="Consolas"/>
              </a:rPr>
              <a:t>1.04 → frustrated</a:t>
            </a:r>
          </a:p>
        </p:txBody>
      </p:sp>
      <p:sp>
        <p:nvSpPr>
          <p:cNvPr id="15" name="Rounded Rectangle 14"/>
          <p:cNvSpPr/>
          <p:nvPr/>
        </p:nvSpPr>
        <p:spPr>
          <a:xfrm>
            <a:off x="8083296"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3296" y="169164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FBBF24"/>
                </a:solidFill>
                <a:latin typeface="Segoe UI Semibold"/>
              </a:rPr>
              <a:t>Noul</a:t>
            </a:r>
          </a:p>
        </p:txBody>
      </p:sp>
      <p:sp>
        <p:nvSpPr>
          <p:cNvPr id="18" name="TextBox 17"/>
          <p:cNvSpPr txBox="1"/>
          <p:nvPr/>
        </p:nvSpPr>
        <p:spPr>
          <a:xfrm>
            <a:off x="8284464"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Does the message convey urgency?</a:t>
            </a:r>
          </a:p>
        </p:txBody>
      </p:sp>
      <p:sp>
        <p:nvSpPr>
          <p:cNvPr id="19" name="TextBox 18"/>
          <p:cNvSpPr txBox="1"/>
          <p:nvPr/>
        </p:nvSpPr>
        <p:spPr>
          <a:xfrm>
            <a:off x="8284464"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BBF24"/>
                </a:solidFill>
                <a:latin typeface="Consolas"/>
              </a:rPr>
              <a:t>0.999 → yes</a:t>
            </a:r>
          </a:p>
        </p:txBody>
      </p:sp>
      <p:sp>
        <p:nvSpPr>
          <p:cNvPr id="20" name="Pentagon 19"/>
          <p:cNvSpPr/>
          <p:nvPr/>
        </p:nvSpPr>
        <p:spPr>
          <a:xfrm>
            <a:off x="457200" y="3931920"/>
            <a:ext cx="2816352" cy="82296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State</a:t>
            </a:r>
          </a:p>
          <a:p>
            <a:pPr algn="ctr">
              <a:lnSpc>
                <a:spcPct val="100000"/>
              </a:lnSpc>
              <a:spcAft>
                <a:spcPts val="0"/>
              </a:spcAft>
            </a:pPr>
            <a:r>
              <a:rPr sz="1000" b="0" i="0">
                <a:solidFill>
                  <a:srgbClr val="F5F6FA"/>
                </a:solidFill>
                <a:latin typeface="Segoe UI"/>
              </a:rPr>
              <a:t>text or JSON</a:t>
            </a:r>
          </a:p>
        </p:txBody>
      </p:sp>
      <p:sp>
        <p:nvSpPr>
          <p:cNvPr id="21" name="Chevron 20"/>
          <p:cNvSpPr/>
          <p:nvPr/>
        </p:nvSpPr>
        <p:spPr>
          <a:xfrm>
            <a:off x="3273552"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Questions</a:t>
            </a:r>
          </a:p>
          <a:p>
            <a:pPr algn="ctr">
              <a:lnSpc>
                <a:spcPct val="100000"/>
              </a:lnSpc>
              <a:spcAft>
                <a:spcPts val="0"/>
              </a:spcAft>
            </a:pPr>
            <a:r>
              <a:rPr sz="1000" b="0" i="0">
                <a:solidFill>
                  <a:srgbClr val="F5F6FA"/>
                </a:solidFill>
                <a:latin typeface="Segoe UI"/>
              </a:rPr>
              <a:t>Choice · Score · Noul</a:t>
            </a:r>
          </a:p>
        </p:txBody>
      </p:sp>
      <p:sp>
        <p:nvSpPr>
          <p:cNvPr id="22" name="Chevron 21"/>
          <p:cNvSpPr/>
          <p:nvPr/>
        </p:nvSpPr>
        <p:spPr>
          <a:xfrm>
            <a:off x="6089904" y="3931920"/>
            <a:ext cx="2816352" cy="82296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Answers</a:t>
            </a:r>
          </a:p>
          <a:p>
            <a:pPr algn="ctr">
              <a:lnSpc>
                <a:spcPct val="100000"/>
              </a:lnSpc>
              <a:spcAft>
                <a:spcPts val="0"/>
              </a:spcAft>
            </a:pPr>
            <a:r>
              <a:rPr sz="1000" b="0" i="0">
                <a:solidFill>
                  <a:srgbClr val="0F1117"/>
                </a:solidFill>
                <a:latin typeface="Segoe UI"/>
              </a:rPr>
              <a:t>+ confidence</a:t>
            </a:r>
          </a:p>
        </p:txBody>
      </p:sp>
      <p:sp>
        <p:nvSpPr>
          <p:cNvPr id="23" name="Chevron 22"/>
          <p:cNvSpPr/>
          <p:nvPr/>
        </p:nvSpPr>
        <p:spPr>
          <a:xfrm>
            <a:off x="8906256" y="3931920"/>
            <a:ext cx="2816352"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Your code</a:t>
            </a:r>
          </a:p>
          <a:p>
            <a:pPr algn="ctr">
              <a:lnSpc>
                <a:spcPct val="100000"/>
              </a:lnSpc>
              <a:spcAft>
                <a:spcPts val="0"/>
              </a:spcAft>
            </a:pPr>
            <a:r>
              <a:rPr sz="1000" b="0" i="0">
                <a:solidFill>
                  <a:srgbClr val="F5F6FA"/>
                </a:solidFill>
                <a:latin typeface="Segoe UI"/>
              </a:rPr>
              <a:t>act · review · escalate</a:t>
            </a:r>
          </a:p>
        </p:txBody>
      </p:sp>
      <p:sp>
        <p:nvSpPr>
          <p:cNvPr id="24" name="TextBox 23"/>
          <p:cNvSpPr txBox="1"/>
          <p:nvPr/>
        </p:nvSpPr>
        <p:spPr>
          <a:xfrm>
            <a:off x="457200" y="5074920"/>
            <a:ext cx="11247120" cy="1280160"/>
          </a:xfrm>
          <a:prstGeom prst="rect">
            <a:avLst/>
          </a:prstGeom>
          <a:noFill/>
        </p:spPr>
        <p:txBody>
          <a:bodyPr wrap="square" anchor="t" lIns="36576" rIns="36576" tIns="36576" bIns="36576">
            <a:spAutoFit/>
          </a:bodyPr>
          <a:lstStyle/>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All questions answered together </a:t>
            </a:r>
            <a:r>
              <a:rPr sz="1600" b="0" i="0">
                <a:solidFill>
                  <a:srgbClr val="A3A9BC"/>
                </a:solidFill>
                <a:latin typeface="Segoe UI"/>
              </a:rPr>
              <a:t>in ~0.1 s · text only · calibrated over many decisions, not each one</a:t>
            </a:r>
          </a:p>
          <a:p>
            <a:pPr algn="l">
              <a:lnSpc>
                <a:spcPct val="105000"/>
              </a:lnSpc>
              <a:spcAft>
                <a:spcPts val="1000"/>
              </a:spcAft>
            </a:pPr>
            <a:r>
              <a:rPr sz="1600" b="0" i="0">
                <a:solidFill>
                  <a:srgbClr val="22D3EE"/>
                </a:solidFill>
                <a:latin typeface="Segoe UI Semibold"/>
              </a:rPr>
              <a:t>▸  </a:t>
            </a:r>
            <a:r>
              <a:rPr sz="1600" b="0" i="0">
                <a:solidFill>
                  <a:srgbClr val="F5F6FA"/>
                </a:solidFill>
                <a:latin typeface="Segoe UI Semibold"/>
              </a:rPr>
              <a:t>Where it fits: </a:t>
            </a:r>
            <a:r>
              <a:rPr sz="1600" b="0" i="0">
                <a:solidFill>
                  <a:srgbClr val="A3A9BC"/>
                </a:solidFill>
                <a:latin typeface="Segoe UI"/>
              </a:rPr>
              <a:t>model routing · tool-call guardrails · LLM-as-judge around your agent</a:t>
            </a:r>
          </a:p>
        </p:txBody>
      </p:sp>
      <p:sp>
        <p:nvSpPr>
          <p:cNvPr id="25" name="TextBox 24">
            <a:hlinkClick r:id="rId2"/>
          </p:cNvPr>
          <p:cNvSpPr txBox="1"/>
          <p:nvPr/>
        </p:nvSpPr>
        <p:spPr>
          <a:xfrm>
            <a:off x="457200" y="6172200"/>
            <a:ext cx="112471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LangChain: “Building a Harness with Jev”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a:t>
            </a:r>
          </a:p>
        </p:txBody>
      </p:sp>
      <p:sp>
        <p:nvSpPr>
          <p:cNvPr id="4" name="TextBox 3"/>
          <p:cNvSpPr txBox="1"/>
          <p:nvPr/>
        </p:nvSpPr>
        <p:spPr>
          <a:xfrm>
            <a:off x="457200" y="1508760"/>
            <a:ext cx="6492240" cy="3108960"/>
          </a:xfrm>
          <a:prstGeom prst="rect">
            <a:avLst/>
          </a:prstGeom>
          <a:noFill/>
        </p:spPr>
        <p:txBody>
          <a:bodyPr wrap="square" anchor="t" lIns="36576" rIns="36576" tIns="36576" bIns="36576">
            <a:spAutoFit/>
          </a:bodyPr>
          <a:lstStyle/>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Lead scoring &amp; routing</a:t>
            </a:r>
            <a:r>
              <a:rPr sz="1400" b="0" i="0">
                <a:solidFill>
                  <a:srgbClr val="22D3EE"/>
                </a:solidFill>
                <a:latin typeface="Segoe UI Semibold"/>
              </a:rPr>
              <a:t>    Score + Choice</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Reply &amp; intent triage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Ad, SEO &amp; content tagging at scale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Social listening &amp; AI guardrails</a:t>
            </a:r>
            <a:r>
              <a:rPr sz="1400" b="0" i="0">
                <a:solidFill>
                  <a:srgbClr val="FBBF24"/>
                </a:solidFill>
                <a:latin typeface="Segoe UI Semibold"/>
              </a:rPr>
              <a:t>    Noul + Score</a:t>
            </a:r>
          </a:p>
        </p:txBody>
      </p:sp>
      <p:pic>
        <p:nvPicPr>
          <p:cNvPr id="5" name="Picture 4" descr="yt_I34qxJjyms0_demos.jpg">
            <a:hlinkClick r:id="rId3"/>
          </p:cNvPr>
          <p:cNvPicPr>
            <a:picLocks noChangeAspect="1"/>
          </p:cNvPicPr>
          <p:nvPr/>
        </p:nvPicPr>
        <p:blipFill>
          <a:blip r:embed="rId2"/>
          <a:stretch>
            <a:fillRect/>
          </a:stretch>
        </p:blipFill>
        <p:spPr>
          <a:xfrm>
            <a:off x="7178040" y="1371600"/>
            <a:ext cx="4572000" cy="2057400"/>
          </a:xfrm>
          <a:prstGeom prst="rect">
            <a:avLst/>
          </a:prstGeom>
          <a:ln w="12700">
            <a:solidFill>
              <a:srgbClr val="33384A"/>
            </a:solidFill>
          </a:ln>
        </p:spPr>
      </p:pic>
      <p:sp>
        <p:nvSpPr>
          <p:cNvPr id="6" name="TextBox 5">
            <a:hlinkClick r:id="rId3"/>
          </p:cNvPr>
          <p:cNvSpPr txBox="1"/>
          <p:nvPr/>
        </p:nvSpPr>
        <p:spPr>
          <a:xfrm>
            <a:off x="7178040" y="3474720"/>
            <a:ext cx="457200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Is WAY More Powerful Than We Thought” – Pursuing AI</a:t>
            </a:r>
          </a:p>
        </p:txBody>
      </p:sp>
      <p:sp>
        <p:nvSpPr>
          <p:cNvPr id="7" name="TextBox 6"/>
          <p:cNvSpPr txBox="1"/>
          <p:nvPr/>
        </p:nvSpPr>
        <p:spPr>
          <a:xfrm>
            <a:off x="7178040" y="3886200"/>
            <a:ext cx="4572000" cy="45720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5F6FA"/>
                </a:solidFill>
                <a:latin typeface="Segoe UI Semibold"/>
              </a:rPr>
              <a:t>586 pages · 45 s · $0.21</a:t>
            </a:r>
          </a:p>
        </p:txBody>
      </p:sp>
      <p:sp>
        <p:nvSpPr>
          <p:cNvPr id="8" name="TextBox 7"/>
          <p:cNvSpPr txBox="1"/>
          <p:nvPr/>
        </p:nvSpPr>
        <p:spPr>
          <a:xfrm>
            <a:off x="7178040" y="4343400"/>
            <a:ext cx="4572000" cy="36576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SEO internal links placed by Jev (Claude Opus 5: 21 pages, $1.43)</a:t>
            </a:r>
          </a:p>
        </p:txBody>
      </p:sp>
      <p:sp>
        <p:nvSpPr>
          <p:cNvPr id="9" name="Pentagon 8"/>
          <p:cNvSpPr/>
          <p:nvPr/>
        </p:nvSpPr>
        <p:spPr>
          <a:xfrm>
            <a:off x="457200" y="4983480"/>
            <a:ext cx="2816352" cy="77724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Collect</a:t>
            </a:r>
          </a:p>
          <a:p>
            <a:pPr algn="ctr">
              <a:lnSpc>
                <a:spcPct val="100000"/>
              </a:lnSpc>
              <a:spcAft>
                <a:spcPts val="0"/>
              </a:spcAft>
            </a:pPr>
            <a:r>
              <a:rPr sz="1000" b="0" i="0">
                <a:solidFill>
                  <a:srgbClr val="F5F6FA"/>
                </a:solidFill>
                <a:latin typeface="Segoe UI"/>
              </a:rPr>
              <a:t>rows via code</a:t>
            </a:r>
          </a:p>
        </p:txBody>
      </p:sp>
      <p:sp>
        <p:nvSpPr>
          <p:cNvPr id="10" name="Chevron 9"/>
          <p:cNvSpPr/>
          <p:nvPr/>
        </p:nvSpPr>
        <p:spPr>
          <a:xfrm>
            <a:off x="3273552" y="4983480"/>
            <a:ext cx="2816352" cy="777240"/>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Ask Jev</a:t>
            </a:r>
          </a:p>
          <a:p>
            <a:pPr algn="ctr">
              <a:lnSpc>
                <a:spcPct val="100000"/>
              </a:lnSpc>
              <a:spcAft>
                <a:spcPts val="0"/>
              </a:spcAft>
            </a:pPr>
            <a:r>
              <a:rPr sz="1000" b="0" i="0">
                <a:solidFill>
                  <a:srgbClr val="0F1117"/>
                </a:solidFill>
                <a:latin typeface="Segoe UI"/>
              </a:rPr>
              <a:t>Choice · Score · Noul</a:t>
            </a:r>
          </a:p>
        </p:txBody>
      </p:sp>
      <p:sp>
        <p:nvSpPr>
          <p:cNvPr id="11" name="Chevron 10"/>
          <p:cNvSpPr/>
          <p:nvPr/>
        </p:nvSpPr>
        <p:spPr>
          <a:xfrm>
            <a:off x="6089904" y="4983480"/>
            <a:ext cx="2816352" cy="77724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Threshold</a:t>
            </a:r>
          </a:p>
          <a:p>
            <a:pPr algn="ctr">
              <a:lnSpc>
                <a:spcPct val="100000"/>
              </a:lnSpc>
              <a:spcAft>
                <a:spcPts val="0"/>
              </a:spcAft>
            </a:pPr>
            <a:r>
              <a:rPr sz="1000" b="0" i="0">
                <a:solidFill>
                  <a:srgbClr val="0F1117"/>
                </a:solidFill>
                <a:latin typeface="Segoe UI"/>
              </a:rPr>
              <a:t>auto · review · drop</a:t>
            </a:r>
          </a:p>
        </p:txBody>
      </p:sp>
      <p:sp>
        <p:nvSpPr>
          <p:cNvPr id="12" name="Chevron 11"/>
          <p:cNvSpPr/>
          <p:nvPr/>
        </p:nvSpPr>
        <p:spPr>
          <a:xfrm>
            <a:off x="8906256" y="4983480"/>
            <a:ext cx="2816352" cy="77724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LLM writes</a:t>
            </a:r>
          </a:p>
          <a:p>
            <a:pPr algn="ctr">
              <a:lnSpc>
                <a:spcPct val="100000"/>
              </a:lnSpc>
              <a:spcAft>
                <a:spcPts val="0"/>
              </a:spcAft>
            </a:pPr>
            <a:r>
              <a:rPr sz="1000" b="0" i="0">
                <a:solidFill>
                  <a:srgbClr val="F5F6FA"/>
                </a:solidFill>
                <a:latin typeface="Segoe UI"/>
              </a:rPr>
              <a:t>only what passed</a:t>
            </a:r>
          </a:p>
        </p:txBody>
      </p:sp>
      <p:sp>
        <p:nvSpPr>
          <p:cNvPr id="13" name="TextBox 12"/>
          <p:cNvSpPr txBox="1"/>
          <p:nvPr/>
        </p:nvSpPr>
        <p:spPr>
          <a:xfrm>
            <a:off x="457200" y="6035040"/>
            <a:ext cx="11247120" cy="36576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87171"/>
                </a:solidFill>
                <a:latin typeface="Segoe UI Semibold"/>
              </a:rPr>
              <a:t>Limits: </a:t>
            </a:r>
            <a:r>
              <a:rPr sz="1250" b="0" i="0">
                <a:solidFill>
                  <a:srgbClr val="A3A9BC"/>
                </a:solidFill>
                <a:latin typeface="Segoe UI"/>
              </a:rPr>
              <a:t>no explanations · closed answer sets · triage-grade accuracy → keep a human for the middle band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isn't public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in:</a:t>
            </a:r>
          </a:p>
        </p:txBody>
      </p:sp>
      <p:sp>
        <p:nvSpPr>
          <p:cNvPr id="5" name="Rounded Rectangle 4"/>
          <p:cNvSpPr/>
          <p:nvPr/>
        </p:nvSpPr>
        <p:spPr>
          <a:xfrm>
            <a:off x="457200"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FBBF24"/>
                </a:solidFill>
                <a:latin typeface="Segoe UI Semibold"/>
              </a:rPr>
              <a:t>①  TypeSafe API</a:t>
            </a:r>
          </a:p>
        </p:txBody>
      </p:sp>
      <p:sp>
        <p:nvSpPr>
          <p:cNvPr id="8" name="TextBox 7"/>
          <p:cNvSpPr txBox="1"/>
          <p:nvPr/>
        </p:nvSpPr>
        <p:spPr>
          <a:xfrm>
            <a:off x="640080"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FBBF24"/>
                </a:solidFill>
                <a:latin typeface="Segoe UI"/>
              </a:rPr>
              <a:t>•  </a:t>
            </a:r>
            <a:r>
              <a:rPr sz="1400" b="0" i="0">
                <a:solidFill>
                  <a:srgbClr val="F5F6FA"/>
                </a:solidFill>
                <a:latin typeface="Segoe UI"/>
              </a:rPr>
              <a:t>Sign up for early access</a:t>
            </a:r>
          </a:p>
          <a:p>
            <a:pPr algn="l">
              <a:lnSpc>
                <a:spcPct val="100000"/>
              </a:lnSpc>
              <a:spcAft>
                <a:spcPts val="600"/>
              </a:spcAft>
            </a:pPr>
            <a:r>
              <a:rPr sz="1400" b="0" i="0">
                <a:solidFill>
                  <a:srgbClr val="FBBF24"/>
                </a:solidFill>
                <a:latin typeface="Segoe UI"/>
              </a:rPr>
              <a:t>•  </a:t>
            </a:r>
            <a:r>
              <a:rPr sz="1400" b="0" i="0">
                <a:solidFill>
                  <a:srgbClr val="F5F6FA"/>
                </a:solidFill>
                <a:latin typeface="Segoe UI"/>
              </a:rPr>
              <a:t>$0.042 per 1M input tokens</a:t>
            </a:r>
          </a:p>
        </p:txBody>
      </p:sp>
      <p:sp>
        <p:nvSpPr>
          <p:cNvPr id="9" name="TextBox 8">
            <a:hlinkClick r:id="rId2"/>
          </p:cNvPr>
          <p:cNvSpPr txBox="1"/>
          <p:nvPr/>
        </p:nvSpPr>
        <p:spPr>
          <a:xfrm>
            <a:off x="640080"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FBBF24"/>
                </a:solidFill>
                <a:latin typeface="Segoe UI Semibold"/>
              </a:rPr>
              <a:t>docs.typesafe.ai</a:t>
            </a:r>
          </a:p>
        </p:txBody>
      </p:sp>
      <p:sp>
        <p:nvSpPr>
          <p:cNvPr id="10" name="Rounded Rectangle 9"/>
          <p:cNvSpPr/>
          <p:nvPr/>
        </p:nvSpPr>
        <p:spPr>
          <a:xfrm>
            <a:off x="4288536"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9164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22D3EE"/>
                </a:solidFill>
                <a:latin typeface="Segoe UI Semibold"/>
              </a:rPr>
              <a:t>②  Microsoft Foundry</a:t>
            </a:r>
          </a:p>
        </p:txBody>
      </p:sp>
      <p:sp>
        <p:nvSpPr>
          <p:cNvPr id="13" name="TextBox 12"/>
          <p:cNvSpPr txBox="1"/>
          <p:nvPr/>
        </p:nvSpPr>
        <p:spPr>
          <a:xfrm>
            <a:off x="4471416"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22D3EE"/>
                </a:solidFill>
                <a:latin typeface="Segoe UI"/>
              </a:rPr>
              <a:t>•  </a:t>
            </a:r>
            <a:r>
              <a:rPr sz="1400" b="0" i="0">
                <a:solidFill>
                  <a:srgbClr val="F5F6FA"/>
                </a:solidFill>
                <a:latin typeface="Segoe UI"/>
              </a:rPr>
              <a:t>Not in the model catalog</a:t>
            </a:r>
          </a:p>
          <a:p>
            <a:pPr algn="l">
              <a:lnSpc>
                <a:spcPct val="100000"/>
              </a:lnSpc>
              <a:spcAft>
                <a:spcPts val="600"/>
              </a:spcAft>
            </a:pPr>
            <a:r>
              <a:rPr sz="1400" b="0" i="0">
                <a:solidFill>
                  <a:srgbClr val="22D3EE"/>
                </a:solidFill>
                <a:latin typeface="Segoe UI"/>
              </a:rPr>
              <a:t>•  </a:t>
            </a:r>
            <a:r>
              <a:rPr sz="1400" b="0" i="0">
                <a:solidFill>
                  <a:srgbClr val="F5F6FA"/>
                </a:solidFill>
                <a:latin typeface="Segoe UI"/>
              </a:rPr>
              <a:t>Call it via an agent OpenAPI tool</a:t>
            </a:r>
          </a:p>
        </p:txBody>
      </p:sp>
      <p:sp>
        <p:nvSpPr>
          <p:cNvPr id="14" name="TextBox 13">
            <a:hlinkClick r:id="rId3"/>
          </p:cNvPr>
          <p:cNvSpPr txBox="1"/>
          <p:nvPr/>
        </p:nvSpPr>
        <p:spPr>
          <a:xfrm>
            <a:off x="4471416"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22D3EE"/>
                </a:solidFill>
                <a:latin typeface="Segoe UI Semibold"/>
              </a:rPr>
              <a:t>Microsoft Tech Community article</a:t>
            </a:r>
          </a:p>
        </p:txBody>
      </p:sp>
      <p:sp>
        <p:nvSpPr>
          <p:cNvPr id="15" name="Rounded Rectangle 14"/>
          <p:cNvSpPr/>
          <p:nvPr/>
        </p:nvSpPr>
        <p:spPr>
          <a:xfrm>
            <a:off x="8119872"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9164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2752"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34D399"/>
                </a:solidFill>
                <a:latin typeface="Segoe UI Semibold"/>
              </a:rPr>
              <a:t>③  Open-source Laya</a:t>
            </a:r>
          </a:p>
        </p:txBody>
      </p:sp>
      <p:sp>
        <p:nvSpPr>
          <p:cNvPr id="18" name="TextBox 17"/>
          <p:cNvSpPr txBox="1"/>
          <p:nvPr/>
        </p:nvSpPr>
        <p:spPr>
          <a:xfrm>
            <a:off x="8302752"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34D399"/>
                </a:solidFill>
                <a:latin typeface="Segoe UI"/>
              </a:rPr>
              <a:t>•  </a:t>
            </a:r>
            <a:r>
              <a:rPr sz="1400" b="0" i="0">
                <a:solidFill>
                  <a:srgbClr val="F5F6FA"/>
                </a:solidFill>
                <a:latin typeface="Segoe UI"/>
              </a:rPr>
              <a:t>No sign-up, runs on a laptop</a:t>
            </a:r>
          </a:p>
          <a:p>
            <a:pPr algn="l">
              <a:lnSpc>
                <a:spcPct val="100000"/>
              </a:lnSpc>
              <a:spcAft>
                <a:spcPts val="600"/>
              </a:spcAft>
            </a:pPr>
            <a:r>
              <a:rPr sz="1400" b="0" i="0">
                <a:solidFill>
                  <a:srgbClr val="34D399"/>
                </a:solidFill>
                <a:latin typeface="Segoe UI"/>
              </a:rPr>
              <a:t>•  </a:t>
            </a:r>
            <a:r>
              <a:rPr sz="1400" b="0" i="0">
                <a:solidFill>
                  <a:srgbClr val="F5F6FA"/>
                </a:solidFill>
                <a:latin typeface="Segoe UI"/>
              </a:rPr>
              <a:t>Powers all our demos</a:t>
            </a:r>
          </a:p>
        </p:txBody>
      </p:sp>
      <p:sp>
        <p:nvSpPr>
          <p:cNvPr id="19" name="TextBox 18">
            <a:hlinkClick r:id="rId4"/>
          </p:cNvPr>
          <p:cNvSpPr txBox="1"/>
          <p:nvPr/>
        </p:nvSpPr>
        <p:spPr>
          <a:xfrm>
            <a:off x="8302752"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34D399"/>
                </a:solidFill>
                <a:latin typeface="Segoe UI Semibold"/>
              </a:rPr>
              <a:t>huggingface.co/convaiinnovations/laya</a:t>
            </a:r>
          </a:p>
        </p:txBody>
      </p:sp>
      <p:sp>
        <p:nvSpPr>
          <p:cNvPr id="20" name="Rounded Rectangle 19"/>
          <p:cNvSpPr/>
          <p:nvPr/>
        </p:nvSpPr>
        <p:spPr>
          <a:xfrm>
            <a:off x="457200" y="4206240"/>
            <a:ext cx="11274552" cy="178308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a:hlinkClick r:id="rId5"/>
          </p:cNvPr>
          <p:cNvSpPr txBox="1"/>
          <p:nvPr/>
        </p:nvSpPr>
        <p:spPr>
          <a:xfrm>
            <a:off x="658368" y="4315968"/>
            <a:ext cx="10881360" cy="292608"/>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A3A9BC"/>
                </a:solidFill>
                <a:latin typeface="Segoe UI"/>
              </a:rPr>
              <a:t>Try it:  </a:t>
            </a:r>
            <a:r>
              <a:rPr sz="1500" b="0" i="0" u="sng">
                <a:solidFill>
                  <a:srgbClr val="34D399"/>
                </a:solidFill>
                <a:latin typeface="Segoe UI Semibold"/>
              </a:rPr>
              <a:t>github.com/stvonolf/jev-samples</a:t>
            </a:r>
          </a:p>
        </p:txBody>
      </p:sp>
      <p:sp>
        <p:nvSpPr>
          <p:cNvPr id="22" name="TextBox 21"/>
          <p:cNvSpPr txBox="1"/>
          <p:nvPr/>
        </p:nvSpPr>
        <p:spPr>
          <a:xfrm>
            <a:off x="658368" y="4800600"/>
            <a:ext cx="10881360" cy="1463040"/>
          </a:xfrm>
          <a:prstGeom prst="rect">
            <a:avLst/>
          </a:prstGeom>
          <a:noFill/>
        </p:spPr>
        <p:txBody>
          <a:bodyPr wrap="square" anchor="t" lIns="36576" rIns="36576" tIns="36576" bIns="36576">
            <a:spAutoFit/>
          </a:bodyPr>
          <a:lstStyle/>
          <a:p>
            <a:pPr algn="l">
              <a:lnSpc>
                <a:spcPct val="125000"/>
              </a:lnSpc>
              <a:spcAft>
                <a:spcPts val="0"/>
              </a:spcAft>
            </a:pPr>
            <a:r>
              <a:rPr sz="1400" b="0" i="0">
                <a:solidFill>
                  <a:srgbClr val="F5F6FA"/>
                </a:solidFill>
                <a:latin typeface="Consolas"/>
              </a:rPr>
              <a:t>git clone https://github.com/stvonolf/jev-samples; cd jev-samples</a:t>
            </a:r>
          </a:p>
          <a:p>
            <a:pPr algn="l">
              <a:lnSpc>
                <a:spcPct val="125000"/>
              </a:lnSpc>
              <a:spcAft>
                <a:spcPts val="0"/>
              </a:spcAft>
            </a:pPr>
            <a:r>
              <a:rPr sz="1400" b="0" i="0">
                <a:solidFill>
                  <a:srgbClr val="F5F6FA"/>
                </a:solidFill>
                <a:latin typeface="Consolas"/>
              </a:rPr>
              <a:t>python -m venv .venv; .venv\Scripts\pip install -r samples\requirements.txt</a:t>
            </a:r>
          </a:p>
          <a:p>
            <a:pPr algn="l">
              <a:lnSpc>
                <a:spcPct val="125000"/>
              </a:lnSpc>
              <a:spcAft>
                <a:spcPts val="0"/>
              </a:spcAft>
            </a:pPr>
            <a:r>
              <a:rPr sz="1400" b="0" i="0">
                <a:solidFill>
                  <a:srgbClr val="F5F6FA"/>
                </a:solidFill>
                <a:latin typeface="Consolas"/>
              </a:rPr>
              <a:t>cd samples; ..\.venv\Scripts\python 07_ui_demos.py      # → http://localhost:8765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6 samples + 3 UI demos</a:t>
            </a:r>
          </a:p>
        </p:txBody>
      </p:sp>
      <p:sp>
        <p:nvSpPr>
          <p:cNvPr id="4" name="TextBox 3">
            <a:hlinkClick r:id="rId2"/>
          </p:cNvPr>
          <p:cNvSpPr txBox="1"/>
          <p:nvPr/>
        </p:nvSpPr>
        <p:spPr>
          <a:xfrm>
            <a:off x="457200" y="1143000"/>
            <a:ext cx="6400800" cy="292608"/>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Code:  </a:t>
            </a:r>
            <a:r>
              <a:rPr sz="1400" b="0" i="0" u="sng">
                <a:solidFill>
                  <a:srgbClr val="22D3EE"/>
                </a:solidFill>
                <a:latin typeface="Segoe UI Semibold"/>
              </a:rPr>
              <a:t>github.com/stvonolf/jev-samples</a:t>
            </a:r>
          </a:p>
        </p:txBody>
      </p:sp>
      <p:sp>
        <p:nvSpPr>
          <p:cNvPr id="5" name="TextBox 4"/>
          <p:cNvSpPr txBox="1"/>
          <p:nvPr/>
        </p:nvSpPr>
        <p:spPr>
          <a:xfrm>
            <a:off x="457200" y="1737360"/>
            <a:ext cx="6400800" cy="2194560"/>
          </a:xfrm>
          <a:prstGeom prst="rect">
            <a:avLst/>
          </a:prstGeom>
          <a:noFill/>
        </p:spPr>
        <p:txBody>
          <a:bodyPr wrap="square" anchor="t" lIns="36576" rIns="36576" tIns="36576" bIns="36576">
            <a:spAutoFit/>
          </a:bodyPr>
          <a:lstStyle/>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6 marketing samples: </a:t>
            </a:r>
            <a:r>
              <a:rPr sz="1600" b="0" i="0">
                <a:solidFill>
                  <a:srgbClr val="A3A9BC"/>
                </a:solidFill>
                <a:latin typeface="Segoe UI"/>
              </a:rPr>
              <a:t>leads, replies, SEO, social, commands, agents</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3 UI demos, </a:t>
            </a:r>
            <a:r>
              <a:rPr sz="1600" b="0" i="0">
                <a:solidFill>
                  <a:srgbClr val="A3A9BC"/>
                </a:solidFill>
                <a:latin typeface="Segoe UI"/>
              </a:rPr>
              <a:t>one per primitive (next slide)</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Local Laya or the Jev API: </a:t>
            </a:r>
            <a:r>
              <a:rPr sz="1600" b="0" i="0">
                <a:solidFill>
                  <a:srgbClr val="A3A9BC"/>
                </a:solidFill>
                <a:latin typeface="Segoe UI"/>
              </a:rPr>
              <a:t>one env variable</a:t>
            </a:r>
          </a:p>
        </p:txBody>
      </p:sp>
      <p:sp>
        <p:nvSpPr>
          <p:cNvPr id="6" name="TextBox 5"/>
          <p:cNvSpPr txBox="1"/>
          <p:nvPr/>
        </p:nvSpPr>
        <p:spPr>
          <a:xfrm>
            <a:off x="457200" y="4069080"/>
            <a:ext cx="6400800" cy="365760"/>
          </a:xfrm>
          <a:prstGeom prst="rect">
            <a:avLst/>
          </a:prstGeom>
          <a:noFill/>
        </p:spPr>
        <p:txBody>
          <a:bodyPr wrap="square" anchor="t" lIns="36576" rIns="36576" tIns="36576" bIns="36576">
            <a:spAutoFit/>
          </a:bodyPr>
          <a:lstStyle/>
          <a:p>
            <a:pPr algn="l">
              <a:lnSpc>
                <a:spcPct val="100000"/>
              </a:lnSpc>
              <a:spcAft>
                <a:spcPts val="0"/>
              </a:spcAft>
            </a:pPr>
            <a:r>
              <a:rPr sz="1600" b="0" i="0">
                <a:solidFill>
                  <a:srgbClr val="34D399"/>
                </a:solidFill>
                <a:latin typeface="Segoe UI Semibold"/>
              </a:rPr>
              <a:t>What we learned</a:t>
            </a:r>
          </a:p>
        </p:txBody>
      </p:sp>
      <p:sp>
        <p:nvSpPr>
          <p:cNvPr id="7" name="TextBox 6"/>
          <p:cNvSpPr txBox="1"/>
          <p:nvPr/>
        </p:nvSpPr>
        <p:spPr>
          <a:xfrm>
            <a:off x="457200" y="4480560"/>
            <a:ext cx="6400800" cy="1554480"/>
          </a:xfrm>
          <a:prstGeom prst="rect">
            <a:avLst/>
          </a:prstGeom>
          <a:noFill/>
        </p:spPr>
        <p:txBody>
          <a:bodyPr wrap="square" anchor="t" lIns="36576" rIns="36576" tIns="36576" bIns="36576">
            <a:spAutoFit/>
          </a:bodyPr>
          <a:lstStyle/>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Ask small, atomic questions</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Keep numbers and business rules in code</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Test wording on labelled examples, gate on confidence</a:t>
            </a:r>
            <a:r>
              <a:rPr sz="1500" b="0" i="0">
                <a:solidFill>
                  <a:srgbClr val="A3A9BC"/>
                </a:solidFill>
                <a:latin typeface="Segoe UI"/>
              </a:rPr>
              <a:t/>
            </a:r>
          </a:p>
        </p:txBody>
      </p:sp>
      <p:pic>
        <p:nvPicPr>
          <p:cNvPr id="8" name="Picture 7" descr="terminal_06_agent_harness.png"/>
          <p:cNvPicPr>
            <a:picLocks noChangeAspect="1"/>
          </p:cNvPicPr>
          <p:nvPr/>
        </p:nvPicPr>
        <p:blipFill>
          <a:blip r:embed="rId3"/>
          <a:stretch>
            <a:fillRect/>
          </a:stretch>
        </p:blipFill>
        <p:spPr>
          <a:xfrm>
            <a:off x="7223760" y="1737360"/>
            <a:ext cx="4526280" cy="3516480"/>
          </a:xfrm>
          <a:prstGeom prst="rect">
            <a:avLst/>
          </a:prstGeom>
          <a:ln w="12700">
            <a:solidFill>
              <a:srgbClr val="33384A"/>
            </a:solidFill>
          </a:ln>
        </p:spPr>
      </p:pic>
      <p:sp>
        <p:nvSpPr>
          <p:cNvPr id="9" name="TextBox 8"/>
          <p:cNvSpPr txBox="1"/>
          <p:nvPr/>
        </p:nvSpPr>
        <p:spPr>
          <a:xfrm>
            <a:off x="7223760" y="5290416"/>
            <a:ext cx="452628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10" name="TextBox 9"/>
          <p:cNvSpPr txBox="1"/>
          <p:nvPr/>
        </p:nvSpPr>
        <p:spPr>
          <a:xfrm>
            <a:off x="457200" y="6172200"/>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22D3EE"/>
                </a:solidFill>
                <a:latin typeface="Segoe UI Semibold"/>
              </a:rPr>
              <a:t>Next: </a:t>
            </a:r>
            <a:r>
              <a:rPr sz="1400" b="0" i="0">
                <a:solidFill>
                  <a:srgbClr val="F5F6FA"/>
                </a:solidFill>
                <a:latin typeface="Segoe UI"/>
              </a:rPr>
              <a:t>pick one pilot · label 300–500 real examples · compare Laya vs the Jev 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Live demos: one per primitive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demo_trolley.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57200" y="1645920"/>
            <a:ext cx="3611880" cy="2257425"/>
          </a:xfrm>
          <a:prstGeom prst="rect">
            <a:avLst/>
          </a:prstGeom>
          <a:ln>
            <a:solidFill>
              <a:srgbClr val="33384A"/>
            </a:solidFill>
          </a:ln>
        </p:spPr>
      </p:pic>
      <p:sp>
        <p:nvSpPr>
          <p:cNvPr id="6" name="TextBox 5"/>
          <p:cNvSpPr txBox="1"/>
          <p:nvPr/>
        </p:nvSpPr>
        <p:spPr>
          <a:xfrm>
            <a:off x="457200"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Trolley ×100</a:t>
            </a:r>
            <a:r>
              <a:rPr sz="1500" b="0" i="0">
                <a:solidFill>
                  <a:srgbClr val="E040FB"/>
                </a:solidFill>
                <a:latin typeface="Segoe UI Semibold"/>
              </a:rPr>
              <a:t>   Choice</a:t>
            </a:r>
          </a:p>
        </p:txBody>
      </p:sp>
      <p:sp>
        <p:nvSpPr>
          <p:cNvPr id="7" name="TextBox 6"/>
          <p:cNvSpPr txBox="1"/>
          <p:nvPr/>
        </p:nvSpPr>
        <p:spPr>
          <a:xfrm>
            <a:off x="457200"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100 / 100 pulls, like the video - but it also pulls when 5 are on the side track.</a:t>
            </a:r>
          </a:p>
        </p:txBody>
      </p:sp>
      <p:pic>
        <p:nvPicPr>
          <p:cNvPr id="8" name="demo_creative.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4288536" y="1645920"/>
            <a:ext cx="3611880" cy="2257425"/>
          </a:xfrm>
          <a:prstGeom prst="rect">
            <a:avLst/>
          </a:prstGeom>
          <a:ln>
            <a:solidFill>
              <a:srgbClr val="33384A"/>
            </a:solidFill>
          </a:ln>
        </p:spPr>
      </p:pic>
      <p:sp>
        <p:nvSpPr>
          <p:cNvPr id="9" name="TextBox 8"/>
          <p:cNvSpPr txBox="1"/>
          <p:nvPr/>
        </p:nvSpPr>
        <p:spPr>
          <a:xfrm>
            <a:off x="4288536"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Emoji pile</a:t>
            </a:r>
            <a:r>
              <a:rPr sz="1500" b="0" i="0">
                <a:solidFill>
                  <a:srgbClr val="FBBF24"/>
                </a:solidFill>
                <a:latin typeface="Segoe UI Semibold"/>
              </a:rPr>
              <a:t>   Noul</a:t>
            </a:r>
          </a:p>
        </p:txBody>
      </p:sp>
      <p:sp>
        <p:nvSpPr>
          <p:cNvPr id="10" name="TextBox 9"/>
          <p:cNvSpPr txBox="1"/>
          <p:nvPr/>
        </p:nvSpPr>
        <p:spPr>
          <a:xfrm>
            <a:off x="4288536"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~235 yes/no decisions per prompt; matches fly up as they stream in.</a:t>
            </a:r>
          </a:p>
        </p:txBody>
      </p:sp>
      <p:pic>
        <p:nvPicPr>
          <p:cNvPr id="11" name="demo_score.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8119872" y="1645920"/>
            <a:ext cx="3611880" cy="2257425"/>
          </a:xfrm>
          <a:prstGeom prst="rect">
            <a:avLst/>
          </a:prstGeom>
          <a:ln>
            <a:solidFill>
              <a:srgbClr val="33384A"/>
            </a:solidFill>
          </a:ln>
        </p:spPr>
      </p:pic>
      <p:sp>
        <p:nvSpPr>
          <p:cNvPr id="12" name="TextBox 11"/>
          <p:cNvSpPr txBox="1"/>
          <p:nvPr/>
        </p:nvSpPr>
        <p:spPr>
          <a:xfrm>
            <a:off x="8119872"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Message heat</a:t>
            </a:r>
            <a:r>
              <a:rPr sz="1500" b="0" i="0">
                <a:solidFill>
                  <a:srgbClr val="22D3EE"/>
                </a:solidFill>
                <a:latin typeface="Segoe UI Semibold"/>
              </a:rPr>
              <a:t>   Score</a:t>
            </a:r>
          </a:p>
        </p:txBody>
      </p:sp>
      <p:sp>
        <p:nvSpPr>
          <p:cNvPr id="13" name="TextBox 12"/>
          <p:cNvSpPr txBox="1"/>
          <p:nvPr/>
        </p:nvSpPr>
        <p:spPr>
          <a:xfrm>
            <a:off x="8119872"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Gauges move between levels as the complaint escalates → retention.</a:t>
            </a:r>
          </a:p>
        </p:txBody>
      </p:sp>
      <p:sp>
        <p:nvSpPr>
          <p:cNvPr id="14" name="TextBox 13"/>
          <p:cNvSpPr txBox="1"/>
          <p:nvPr/>
        </p:nvSpPr>
        <p:spPr>
          <a:xfrm>
            <a:off x="457200" y="6263640"/>
            <a:ext cx="11247120" cy="27432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A3A9BC"/>
                </a:solidFill>
                <a:latin typeface="Segoe UI"/>
              </a:rPr>
              <a:t>Click a video to play it · recorded from samples/07_ui_demos.py on a laptop CPU</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